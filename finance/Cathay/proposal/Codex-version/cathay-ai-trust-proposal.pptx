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446504a9ce4db4" /><Relationship Type="http://schemas.openxmlformats.org/officeDocument/2006/relationships/extended-properties" Target="/docProps/app.xml" Id="Re65a516d27744bee" /><Relationship Type="http://schemas.openxmlformats.org/officeDocument/2006/relationships/officeDocument" Target="/ppt/presentation.xml" Id="Rf21e31ed20a649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8bf7f040c428f"/>
  </p:sldMasterIdLst>
  <p:notesMasterIdLst>
    <p:notesMasterId xmlns:r="http://schemas.openxmlformats.org/officeDocument/2006/relationships" r:id="R05d9d509cabc4aa3"/>
  </p:notesMasterIdLst>
  <p:sldIdLst>
    <p:sldId xmlns:r="http://schemas.openxmlformats.org/officeDocument/2006/relationships" id="256" r:id="Rf1954d3bc030425b"/>
    <p:sldId xmlns:r="http://schemas.openxmlformats.org/officeDocument/2006/relationships" id="257" r:id="R4dfdd5760aa54cb4"/>
    <p:sldId xmlns:r="http://schemas.openxmlformats.org/officeDocument/2006/relationships" id="258" r:id="R818e3ade09b54fc0"/>
    <p:sldId xmlns:r="http://schemas.openxmlformats.org/officeDocument/2006/relationships" id="259" r:id="R832086d72f594a2b"/>
    <p:sldId xmlns:r="http://schemas.openxmlformats.org/officeDocument/2006/relationships" id="260" r:id="R2e38faa26ff44441"/>
    <p:sldId xmlns:r="http://schemas.openxmlformats.org/officeDocument/2006/relationships" id="261" r:id="R697bc3849d414c73"/>
    <p:sldId xmlns:r="http://schemas.openxmlformats.org/officeDocument/2006/relationships" id="262" r:id="Rab28a217560b4ded"/>
    <p:sldId xmlns:r="http://schemas.openxmlformats.org/officeDocument/2006/relationships" id="263" r:id="Rff8a7e4527754635"/>
    <p:sldId xmlns:r="http://schemas.openxmlformats.org/officeDocument/2006/relationships" id="264" r:id="R41ccdf42793e4e2c"/>
    <p:sldId xmlns:r="http://schemas.openxmlformats.org/officeDocument/2006/relationships" id="265" r:id="Rba973c769a5c47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b8cfb4fb454b94" /><Relationship Type="http://schemas.openxmlformats.org/officeDocument/2006/relationships/slideMaster" Target="/ppt/slideMasters/slideMaster1.xml" Id="R5f88bf7f040c428f" /><Relationship Type="http://schemas.openxmlformats.org/officeDocument/2006/relationships/notesMaster" Target="/ppt/notesMasters/notesMaster1.xml" Id="R05d9d509cabc4aa3" /><Relationship Type="http://schemas.openxmlformats.org/officeDocument/2006/relationships/presProps" Target="/ppt/presProps.xml" Id="R0bdecc6b89444e0a" /><Relationship Type="http://schemas.openxmlformats.org/officeDocument/2006/relationships/tableStyles" Target="/ppt/tableStyles.xml" Id="Rbb2bdc1819ae4de1" /><Relationship Type="http://schemas.openxmlformats.org/officeDocument/2006/relationships/slide" Target="/ppt/slides/slide1.xml" Id="Rf1954d3bc030425b" /><Relationship Type="http://schemas.openxmlformats.org/officeDocument/2006/relationships/slide" Target="/ppt/slides/slide2.xml" Id="R4dfdd5760aa54cb4" /><Relationship Type="http://schemas.openxmlformats.org/officeDocument/2006/relationships/slide" Target="/ppt/slides/slide3.xml" Id="R818e3ade09b54fc0" /><Relationship Type="http://schemas.openxmlformats.org/officeDocument/2006/relationships/slide" Target="/ppt/slides/slide4.xml" Id="R832086d72f594a2b" /><Relationship Type="http://schemas.openxmlformats.org/officeDocument/2006/relationships/slide" Target="/ppt/slides/slide5.xml" Id="R2e38faa26ff44441" /><Relationship Type="http://schemas.openxmlformats.org/officeDocument/2006/relationships/slide" Target="/ppt/slides/slide6.xml" Id="R697bc3849d414c73" /><Relationship Type="http://schemas.openxmlformats.org/officeDocument/2006/relationships/slide" Target="/ppt/slides/slide7.xml" Id="Rab28a217560b4ded" /><Relationship Type="http://schemas.openxmlformats.org/officeDocument/2006/relationships/slide" Target="/ppt/slides/slide8.xml" Id="Rff8a7e4527754635" /><Relationship Type="http://schemas.openxmlformats.org/officeDocument/2006/relationships/slide" Target="/ppt/slides/slide9.xml" Id="R41ccdf42793e4e2c" /><Relationship Type="http://schemas.openxmlformats.org/officeDocument/2006/relationships/slide" Target="/ppt/slides/slide10.xml" Id="Rba973c769a5c47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6cd3901b0c4e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e9849fd04b46d6" /><Relationship Type="http://schemas.openxmlformats.org/officeDocument/2006/relationships/notesMaster" Target="/ppt/notesMasters/notesMaster1.xml" Id="R29492914a58041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7f79913f534f9c" /><Relationship Type="http://schemas.openxmlformats.org/officeDocument/2006/relationships/notesMaster" Target="/ppt/notesMasters/notesMaster1.xml" Id="R7490f4b6948145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375889ed24745" /><Relationship Type="http://schemas.openxmlformats.org/officeDocument/2006/relationships/notesMaster" Target="/ppt/notesMasters/notesMaster1.xml" Id="R8880c861e73b49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2e500f45204903" /><Relationship Type="http://schemas.openxmlformats.org/officeDocument/2006/relationships/notesMaster" Target="/ppt/notesMasters/notesMaster1.xml" Id="Ra1d7dde1306d4e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56fe66dbb24978" /><Relationship Type="http://schemas.openxmlformats.org/officeDocument/2006/relationships/notesMaster" Target="/ppt/notesMasters/notesMaster1.xml" Id="R62236aa3f8a841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62a2519104d97" /><Relationship Type="http://schemas.openxmlformats.org/officeDocument/2006/relationships/notesMaster" Target="/ppt/notesMasters/notesMaster1.xml" Id="R3a4f765df9274f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3c97e4160f473c" /><Relationship Type="http://schemas.openxmlformats.org/officeDocument/2006/relationships/notesMaster" Target="/ppt/notesMasters/notesMaster1.xml" Id="Rf6fd63c4f5da4b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4b1f9bee954016" /><Relationship Type="http://schemas.openxmlformats.org/officeDocument/2006/relationships/notesMaster" Target="/ppt/notesMasters/notesMaster1.xml" Id="Re5de8ad5c6c24a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58ec3a5cdb486f" /><Relationship Type="http://schemas.openxmlformats.org/officeDocument/2006/relationships/notesMaster" Target="/ppt/notesMasters/notesMaster1.xml" Id="R11f989bf4cc04d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0044cb58724fbe" /><Relationship Type="http://schemas.openxmlformats.org/officeDocument/2006/relationships/notesMaster" Target="/ppt/notesMasters/notesMaster1.xml" Id="R0054e1d2226340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1ff0afab049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8e041a071b4ec0" /><Relationship Type="http://schemas.openxmlformats.org/officeDocument/2006/relationships/slideLayout" Target="/ppt/slideLayouts/slideLayout1.xml" Id="Rc0054b74f3a945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054b74f3a945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20fb1c6e64604" /><Relationship Type="http://schemas.openxmlformats.org/officeDocument/2006/relationships/notesSlide" Target="/ppt/notesSlides/notesSlide1.xml" Id="R7b2cbde5e9504d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c60b9764e4bb3" /><Relationship Type="http://schemas.openxmlformats.org/officeDocument/2006/relationships/notesSlide" Target="/ppt/notesSlides/notesSlide2.xml" Id="R800090c17281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ed2d5e4e54786" /><Relationship Type="http://schemas.openxmlformats.org/officeDocument/2006/relationships/notesSlide" Target="/ppt/notesSlides/notesSlide3.xml" Id="Redd2330e7b4148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25919673c48be" /><Relationship Type="http://schemas.openxmlformats.org/officeDocument/2006/relationships/notesSlide" Target="/ppt/notesSlides/notesSlide4.xml" Id="Ra49330cf131247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a727ad3b4848" /><Relationship Type="http://schemas.openxmlformats.org/officeDocument/2006/relationships/notesSlide" Target="/ppt/notesSlides/notesSlide5.xml" Id="Rad547f0289614d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db1677ca345f2" /><Relationship Type="http://schemas.openxmlformats.org/officeDocument/2006/relationships/notesSlide" Target="/ppt/notesSlides/notesSlide6.xml" Id="Rd7b7f264e3fb4c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d3a5d1f834f0e" /><Relationship Type="http://schemas.openxmlformats.org/officeDocument/2006/relationships/notesSlide" Target="/ppt/notesSlides/notesSlide7.xml" Id="R78d24479fb27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3901dbb4642d0" /><Relationship Type="http://schemas.openxmlformats.org/officeDocument/2006/relationships/notesSlide" Target="/ppt/notesSlides/notesSlide8.xml" Id="R11c75bea718847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24817104340b0" /><Relationship Type="http://schemas.openxmlformats.org/officeDocument/2006/relationships/notesSlide" Target="/ppt/notesSlides/notesSlide9.xml" Id="Ra4b83f7a56ba4c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dba9c36124a71" /><Relationship Type="http://schemas.openxmlformats.org/officeDocument/2006/relationships/notesSlide" Target="/ppt/notesSlides/notesSlide10.xml" Id="R43e5e88a579743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5476EF-70F7-4709-A36E-7479BD2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4A"/>
                </a:solidFill>
              </a:defRPr>
            </a:pPr>
            <a:r>
              <a:rPr sz="1350" b="1">
                <a:solidFill>
                  <a:srgbClr val="1F6F4A"/>
                </a:solidFill>
              </a:rPr>
              <a:t>國泰 AI 服務中台提案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336FB-4A3A-4906-AC91-8A3AB2E9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524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5211B"/>
                </a:solidFill>
              </a:defRPr>
            </a:pPr>
            <a:r>
              <a:rPr sz="4800" b="1">
                <a:solidFill>
                  <a:srgbClr val="15211B"/>
                </a:solidFill>
              </a:rPr>
              <a:t>Trust Layer</a:t>
            </a:r>
          </a:p>
          <a:p xmlns:a="http://schemas.openxmlformats.org/drawingml/2006/main">
            <a:pPr>
              <a:defRPr sz="4800" b="1">
                <a:solidFill>
                  <a:srgbClr val="15211B"/>
                </a:solidFill>
              </a:defRPr>
            </a:pPr>
            <a:r>
              <a:rPr sz="4800" b="1">
                <a:solidFill>
                  <a:srgbClr val="15211B"/>
                </a:solidFill>
              </a:rPr>
              <a:t>for Financial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AA07A-4F7A-468E-9000-484283C9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6B63"/>
                </a:solidFill>
              </a:defRPr>
            </a:pPr>
            <a:r>
              <a:rPr sz="1875">
                <a:solidFill>
                  <a:srgbClr val="5D6B63"/>
                </a:solidFill>
              </a:rPr>
              <a:t>阿發下一階段，不只是更會回答，而是讓每個回答可以被信任、被檢查、被收斂。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31609-6F8F-43DB-8070-117C5C5D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76300"/>
            <a:ext cx="2381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A8696-DCB1-4CA2-81EE-8948F6F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28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4C33"/>
                </a:solidFill>
              </a:defRPr>
            </a:pPr>
            <a:r>
              <a:rPr sz="3900" b="1">
                <a:solidFill>
                  <a:srgbClr val="124C33"/>
                </a:solidFill>
              </a:rPr>
              <a:t>90 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AE8D1-8C76-494B-A41A-09D97AE1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161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11B"/>
                </a:solidFill>
              </a:defRPr>
            </a:pPr>
            <a:r>
              <a:rPr sz="2550" b="1">
                <a:solidFill>
                  <a:srgbClr val="15211B"/>
                </a:solidFill>
              </a:rPr>
              <a:t>Learn</a:t>
            </a:r>
          </a:p>
          <a:p xmlns:a="http://schemas.openxmlformats.org/drawingml/2006/main">
            <a:pPr>
              <a:defRPr sz="2550" b="1">
                <a:solidFill>
                  <a:srgbClr val="15211B"/>
                </a:solidFill>
              </a:defRPr>
            </a:pPr>
            <a:r>
              <a:rPr sz="2550" b="1">
                <a:solidFill>
                  <a:srgbClr val="15211B"/>
                </a:solidFill>
              </a:rPr>
              <a:t>Map</a:t>
            </a:r>
          </a:p>
          <a:p xmlns:a="http://schemas.openxmlformats.org/drawingml/2006/main">
            <a:pPr>
              <a:defRPr sz="2550" b="1">
                <a:solidFill>
                  <a:srgbClr val="15211B"/>
                </a:solidFill>
              </a:defRPr>
            </a:pPr>
            <a:r>
              <a:rPr sz="2550" b="1">
                <a:solidFill>
                  <a:srgbClr val="15211B"/>
                </a:solidFill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A9D88-A611-4994-BC40-B9CFB78E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6720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63"/>
                </a:solidFill>
              </a:defRPr>
            </a:pPr>
            <a:r>
              <a:rPr sz="1125">
                <a:solidFill>
                  <a:srgbClr val="5D6B63"/>
                </a:solidFill>
              </a:rPr>
              <a:t>新人切入點：不重做核心系統，先做一個低風險、可審計的 trust pilot。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DDF52-0D42-47FC-B59D-ED1DF014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7BD7B-B44E-4985-98C6-EC1041DF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0748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7BFBD-A920-492B-B354-4C8F6405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01 ·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4AB2E-EA65-447F-A8D3-086D3284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原專案主軸對，但畫面與文字太像研究筆記。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307B8-8207-4997-812C-E2A30C95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D8790-5DE0-4835-AF54-2D14086D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ABF2F-5C12-4977-8588-47E4E9CC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58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11B"/>
                </a:solidFill>
              </a:defRPr>
            </a:pPr>
            <a:r>
              <a:rPr sz="1650" b="1">
                <a:solidFill>
                  <a:srgbClr val="15211B"/>
                </a:solidFill>
              </a:rPr>
              <a:t>資訊層級太平均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3E000-6CFA-4410-9DCF-90DEE072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58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架構、SWOT、Roadmap、點子都像第一層重點，讀者難以在 30 秒內抓到要投資哪一件事。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00B9A-F245-418D-BAF4-444AF405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6B815-9B84-4B6D-8286-4869FF29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558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11B"/>
                </a:solidFill>
              </a:defRPr>
            </a:pPr>
            <a:r>
              <a:rPr sz="1650" b="1">
                <a:solidFill>
                  <a:srgbClr val="15211B"/>
                </a:solidFill>
              </a:rPr>
              <a:t>AI 感來自裝飾與口號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4B3F8-A255-4277-B7F5-3635947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558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emoji、badge、漸層、卡片與 HINT 過多，削弱金融提案應有的克制、精準與可信度。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B1F4E-BE12-400E-B8F2-AEF0C261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F9A41-4A5E-416E-BF06-BF183CD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558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11B"/>
                </a:solidFill>
              </a:defRPr>
            </a:pPr>
            <a:r>
              <a:rPr sz="1650" b="1">
                <a:solidFill>
                  <a:srgbClr val="15211B"/>
                </a:solidFill>
              </a:rPr>
              <a:t>證據與推論需要分層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DAA8A-2C36-4116-8E8D-AAECDE6D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558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公開事實、合理推測、個人建議應該分開說，避免把 unknown 講成 fact。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7113B-7F1C-484D-8405-F931F17C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52C47-51B0-47C2-B951-F38EE37D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43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4C33"/>
                </a:solidFill>
              </a:defRPr>
            </a:pPr>
            <a:r>
              <a:rPr sz="1800" b="1">
                <a:solidFill>
                  <a:srgbClr val="124C33"/>
                </a:solidFill>
              </a:rPr>
              <a:t>改版判斷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F3080-1BC9-4B0B-AEAD-208991C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211B"/>
                </a:solidFill>
              </a:defRPr>
            </a:pPr>
            <a:r>
              <a:rPr sz="2325" b="1">
                <a:solidFill>
                  <a:srgbClr val="15211B"/>
                </a:solidFill>
              </a:rPr>
              <a:t>少一點形容詞，</a:t>
            </a:r>
          </a:p>
          <a:p xmlns:a="http://schemas.openxmlformats.org/drawingml/2006/main">
            <a:pPr>
              <a:defRPr sz="2325" b="1">
                <a:solidFill>
                  <a:srgbClr val="15211B"/>
                </a:solidFill>
              </a:defRPr>
            </a:pPr>
            <a:r>
              <a:rPr sz="2325" b="1">
                <a:solidFill>
                  <a:srgbClr val="15211B"/>
                </a:solidFill>
              </a:rPr>
              <a:t>多一點決策句；</a:t>
            </a:r>
          </a:p>
          <a:p xmlns:a="http://schemas.openxmlformats.org/drawingml/2006/main">
            <a:pPr>
              <a:defRPr sz="2325" b="1">
                <a:solidFill>
                  <a:srgbClr val="15211B"/>
                </a:solidFill>
              </a:defRPr>
            </a:pPr>
            <a:r>
              <a:rPr sz="2325" b="1">
                <a:solidFill>
                  <a:srgbClr val="15211B"/>
                </a:solidFill>
              </a:rPr>
              <a:t>少一點大而全，</a:t>
            </a:r>
          </a:p>
          <a:p xmlns:a="http://schemas.openxmlformats.org/drawingml/2006/main">
            <a:pPr>
              <a:defRPr sz="2325" b="1">
                <a:solidFill>
                  <a:srgbClr val="15211B"/>
                </a:solidFill>
              </a:defRPr>
            </a:pPr>
            <a:r>
              <a:rPr sz="2325" b="1">
                <a:solidFill>
                  <a:srgbClr val="15211B"/>
                </a:solidFill>
              </a:rPr>
              <a:t>多一點可交付物。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2E846-3177-47C7-85B4-AEB8F38B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BDA6A-DD60-4286-BF60-CD58A330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9894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9DF35-E107-4072-AACE-579FA822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02 ·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1192C-3BB9-4FF5-889C-C1AAA5E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國泰已有規模與平台，下一個缺口是可見的信任。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CE33E-9B86-4DB6-A4DB-C3DAE578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BDB92-351F-4391-BDEC-2EC26CC9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5AE8F-04B5-49FA-89DF-34154447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643F7-F7FC-4343-B506-6AB0EFC8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6F4A"/>
                </a:solidFill>
              </a:defRPr>
            </a:pPr>
            <a:r>
              <a:rPr sz="1650" b="1">
                <a:solidFill>
                  <a:srgbClr val="1F6F4A"/>
                </a:solidFill>
              </a:rPr>
              <a:t>已有使用基礎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2C82F-D078-4F0B-98FD-BD0DBFCC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7241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公開資料顯示，阿發曾達每月 80-90 萬人次；另有報導提到國泰世華每月約 100-120 萬人使用。這不是 PoC，而是生產級服務。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5CEB3-D578-4843-98C7-EC65A30F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145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719CF-189B-43FD-B8C3-FE2A864C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145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7A"/>
          </a:solidFill>
          <a:ln xmlns:a="http://schemas.openxmlformats.org/drawingml/2006/main" w="9525">
            <a:solidFill>
              <a:srgbClr val="245F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10D54-C259-4BD6-9C65-2F2943C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05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5F7A"/>
                </a:solidFill>
              </a:defRPr>
            </a:pPr>
            <a:r>
              <a:rPr sz="1650" b="1">
                <a:solidFill>
                  <a:srgbClr val="245F7A"/>
                </a:solidFill>
              </a:rPr>
              <a:t>已有平台底座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2405B-B144-48FA-BFE9-EE90B6D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241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GAIA 2.0 公開提到知識庫、Model Hub、70 道安全護欄與 Multi-Agent 架構。問題不是有沒有 AI，而是怎麼讓 AI 可控。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275AB-1C6A-4B70-A51E-F32E02D7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43C92-DA70-47A6-86E1-9ED94581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433E"/>
          </a:solidFill>
          <a:ln xmlns:a="http://schemas.openxmlformats.org/drawingml/2006/main" w="9525">
            <a:solidFill>
              <a:srgbClr val="9443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D5979-4CA9-49FA-80B5-5787CC80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05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4433E"/>
                </a:solidFill>
              </a:defRPr>
            </a:pPr>
            <a:r>
              <a:rPr sz="1650" b="1">
                <a:solidFill>
                  <a:srgbClr val="94433E"/>
                </a:solidFill>
              </a:rPr>
              <a:t>治理尚未產品化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803E1-FF5A-4441-AC18-B349F226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86050"/>
            <a:ext cx="27241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對外看不見引用、版本、回滾、紅隊測試與事件 playbook。這不代表沒有，而是還沒變成可展示的產品能力。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ED52C-7C07-4DCD-AF1F-AB1BB9DD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11B"/>
                </a:solidFill>
              </a:defRPr>
            </a:pPr>
            <a:r>
              <a:rPr sz="1875" b="1">
                <a:solidFill>
                  <a:srgbClr val="15211B"/>
                </a:solidFill>
              </a:rPr>
              <a:t>決策：不要再提「更聰明的 chatbot」。提「可引用、可停下、可審計」的金融 AI 信任層。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1B58A-7CD9-4E22-8D2F-812DDA2F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91044-C8B3-4937-A192-479CDE0F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9986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604D3-4346-4D73-80A3-7F2931B0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03 · SWOT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949F8-CC8D-4581-84CF-B635D778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策略落點是 WO：把透明度短板變成信任賣點。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387D3-F3FC-496F-A18C-51970603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4B416-87DD-4988-B110-56033E78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39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CCEAD-F131-4125-AA65-5A1C2BFE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08860-2B1C-4051-BC94-08C1485D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6F4A"/>
                </a:solidFill>
              </a:defRPr>
            </a:pPr>
            <a:r>
              <a:rPr sz="1650" b="1">
                <a:solidFill>
                  <a:srgbClr val="1F6F4A"/>
                </a:solidFill>
              </a:rPr>
              <a:t>Strengths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CE0CC-469E-4151-802A-BED80D11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4972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跨子公司服務基礎、成熟客服流量、GAIA 2.0 平台、既有流程可承接高風險情境。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A464F-87E5-494B-BC6F-8D2068A2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39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6AE0F-4E2D-4FD7-9833-6FC9E4B2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433E"/>
          </a:solidFill>
          <a:ln xmlns:a="http://schemas.openxmlformats.org/drawingml/2006/main" w="9525">
            <a:solidFill>
              <a:srgbClr val="94433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EBDAE-A58C-4244-ABCB-66D7CE9E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4433E"/>
                </a:solidFill>
              </a:defRPr>
            </a:pPr>
            <a:r>
              <a:rPr sz="1650" b="1">
                <a:solidFill>
                  <a:srgbClr val="94433E"/>
                </a:solidFill>
              </a:rPr>
              <a:t>Weaknesses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A6664-03A2-4A44-9011-68FE29D9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4972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citation、版本、權限、回滾、風險分級與事件處置尚未公開成產品語言。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038E8-9EEB-4706-A012-812E8A20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9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48567-9D5D-4F11-833F-FEDF92C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7A"/>
          </a:solidFill>
          <a:ln xmlns:a="http://schemas.openxmlformats.org/drawingml/2006/main" w="9525">
            <a:solidFill>
              <a:srgbClr val="245F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D61A1-E075-4EC1-8BB9-7DDA8E06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5F7A"/>
                </a:solidFill>
              </a:defRPr>
            </a:pPr>
            <a:r>
              <a:rPr sz="1650" b="1">
                <a:solidFill>
                  <a:srgbClr val="245F7A"/>
                </a:solidFill>
              </a:rPr>
              <a:t>Opportunities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387FA-F7DF-4AE5-AA5E-34D06D5B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4972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監理與企業客戶更重視可審計 AI；治理透明可成為金融品牌差異。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7BCA5-8B96-4756-8BF5-1BD5DA25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39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BC1B5-89BF-4458-9D21-6BC799B7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B1F"/>
          </a:solidFill>
          <a:ln xmlns:a="http://schemas.openxmlformats.org/drawingml/2006/main" w="9525">
            <a:solidFill>
              <a:srgbClr val="9A6B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4F7A1-18BB-4132-BBA6-DF542E11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B1F"/>
                </a:solidFill>
              </a:defRPr>
            </a:pPr>
            <a:r>
              <a:rPr sz="1650" b="1">
                <a:solidFill>
                  <a:srgbClr val="9A6B1F"/>
                </a:solidFill>
              </a:rPr>
              <a:t>Threats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38F4C-616F-4B8C-AA42-4E6E9D34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4972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本地智能客服高度同質化；DBS 等區域銀行已往交易與企業服務推進。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5D235-477A-4001-9649-78CA0B95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CF1A8-109D-4BE6-B05C-C7F7A7E3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0467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E0B7F-898F-4CB9-B7B5-19A6A36B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04 · Competitor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E6858-5E20-4C8A-A860-3D1C8BE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競爭不是誰比較像人，而是誰能把高風險服務做得可控。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4AEF1-A38D-4EB7-8602-F42B8AC0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83CCB-DD2E-4066-A440-97BA3C5C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EE8E0-5F26-481B-B4D9-EDEAD4D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4C33"/>
                </a:solidFill>
              </a:defRPr>
            </a:pPr>
            <a:r>
              <a:rPr sz="1125" b="1">
                <a:solidFill>
                  <a:srgbClr val="124C33"/>
                </a:solidFill>
              </a:rPr>
              <a:t>對手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128FE-098E-4BEA-AF4F-1C45D7FF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3B211-A566-495F-A2AB-E96C2D49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3360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4C33"/>
                </a:solidFill>
              </a:defRPr>
            </a:pPr>
            <a:r>
              <a:rPr sz="1125" b="1">
                <a:solidFill>
                  <a:srgbClr val="124C33"/>
                </a:solidFill>
              </a:rPr>
              <a:t>公開能力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CBFDC-DA08-48CF-BF62-FDE6D89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383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42A0B-8DFC-49BE-8201-E54D0585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3360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4C33"/>
                </a:solidFill>
              </a:defRPr>
            </a:pPr>
            <a:r>
              <a:rPr sz="1125" b="1">
                <a:solidFill>
                  <a:srgbClr val="124C33"/>
                </a:solidFill>
              </a:rPr>
              <a:t>壓力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D7985-A0FE-4F7F-AA29-24103F00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C047B-BEA1-43C4-9532-478B8B4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4C33"/>
                </a:solidFill>
              </a:defRPr>
            </a:pPr>
            <a:r>
              <a:rPr sz="1125" b="1">
                <a:solidFill>
                  <a:srgbClr val="124C33"/>
                </a:solidFill>
              </a:rPr>
              <a:t>國泰反擊角度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60D9D-FB99-443C-8C3C-8E3D06F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62E11-9BA0-4958-ACDE-A13A36C3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11B"/>
                </a:solidFill>
              </a:defRPr>
            </a:pPr>
            <a:r>
              <a:rPr sz="1425" b="1">
                <a:solidFill>
                  <a:srgbClr val="15211B"/>
                </a:solidFill>
              </a:rPr>
              <a:t>DBS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23C81-02EB-441C-ACB9-9989A458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384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B04F2-0ABA-4D99-A426-4FA40376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9080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digibot 可查詢與交易；Joy 進企業客戶。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7F045-D6A3-4427-8576-43C8E95D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384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0B816-92AC-40A3-9E61-4E3235E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區域標竿已推向深服務。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B10CD-CB1A-444F-8DAE-59BD5B71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4AC64-86F6-414D-BF56-0560F95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20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用本地場景與治理透明建立信任差異。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DDFD0-580B-47C5-B4F6-A0A2C087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0A731-47DE-46B8-8355-D28C1655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11B"/>
                </a:solidFill>
              </a:defRPr>
            </a:pPr>
            <a:r>
              <a:rPr sz="1425" b="1">
                <a:solidFill>
                  <a:srgbClr val="15211B"/>
                </a:solidFill>
              </a:rPr>
              <a:t>HSBC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ED3F8-3D9F-4C53-AE57-19CCF151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878D2-D143-4900-9BCA-72784A19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5760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強調 responsible AI 與風險管理。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ECD27-C00E-42B0-8728-41E5F7C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052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3FDD1-15FE-44D1-9A8C-35455BB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5760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國際品牌會教育市場。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84697-3152-44B3-8FB4-7D966D6A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A47433-4723-46B0-8BEC-5785D7EC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320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把治理從後台框架變前台產品語言。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D5C6C-3878-4CF2-A8C1-F5CDDEA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B3F0D-75D5-4C9C-9DB6-A0E0C00F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11B"/>
                </a:solidFill>
              </a:defRPr>
            </a:pPr>
            <a:r>
              <a:rPr sz="1425" b="1">
                <a:solidFill>
                  <a:srgbClr val="15211B"/>
                </a:solidFill>
              </a:rPr>
              <a:t>中信 / 玉山 / 台新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18A4EF-FA9D-4D83-BAF6-D93E2D36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720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9CA60D-BC5D-4B79-AE42-AA9940EE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2440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智能客服成熟，服務量與解答率高。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BB193-1498-45FA-AD09-D46794B0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720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603000-2FD9-4BBA-8313-0A0A0B6B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2440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問答功能已成基本配備。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63AD1D-E621-4837-B911-8373092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720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2B5F39-0E0B-4E2D-B3B8-7C1941E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320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不要只比解答率，改比可追溯與停損能力。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BBCEE4-C9E0-42C8-9B27-A23681B2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4887E1-7BFD-41C8-88F3-4BDF16BF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4286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14900-47AF-4024-A0A7-840CF3C7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05 · Product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6E548-FC9B-45C8-84F3-86493B59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Trust layer 由三個小能力組成，不碰核心交易系統。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5F772-37BB-4795-835C-04CFCBED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F36AC-F2D2-4AD3-B7C1-82FA6EB7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8237F-56CE-4F23-B619-7D28C02F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990B3-6534-4185-A2F8-7D16C7E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6F4A"/>
                </a:solidFill>
              </a:defRPr>
            </a:pPr>
            <a:r>
              <a:rPr sz="1650" b="1">
                <a:solidFill>
                  <a:srgbClr val="1F6F4A"/>
                </a:solidFill>
              </a:rPr>
              <a:t>1. Citation-first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1E210-069D-42A2-B95D-337ED654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7241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RAG 片段保留 metadata，回答旁顯示來源。目標不是讓回答更長，而是讓回答可以被查。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B251D-6EE4-4F7C-88BA-B7042B5F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1A515-8047-44BA-9FC1-A26F1C1E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7A"/>
          </a:solidFill>
          <a:ln xmlns:a="http://schemas.openxmlformats.org/drawingml/2006/main" w="9525">
            <a:solidFill>
              <a:srgbClr val="245F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2BCC9-D2D3-4661-ACBA-579863B8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81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5F7A"/>
                </a:solidFill>
              </a:defRPr>
            </a:pPr>
            <a:r>
              <a:rPr sz="1650" b="1">
                <a:solidFill>
                  <a:srgbClr val="245F7A"/>
                </a:solidFill>
              </a:rPr>
              <a:t>2. Stop with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34DE5-9346-4762-81B7-4F1B2F65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62250"/>
            <a:ext cx="27241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意圖、檢索與風險分數低於門檻時不硬答，轉真人或回既有驗證流程。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C18B6-2B96-4AEB-A17D-42D02E7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D4D3F-B3C7-461E-900B-3DA92784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B1F"/>
          </a:solidFill>
          <a:ln xmlns:a="http://schemas.openxmlformats.org/drawingml/2006/main" w="9525">
            <a:solidFill>
              <a:srgbClr val="9A6B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2C045-3D1A-4667-A377-D7D1BF6A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B1F"/>
                </a:solidFill>
              </a:defRPr>
            </a:pPr>
            <a:r>
              <a:rPr sz="1650" b="1">
                <a:solidFill>
                  <a:srgbClr val="9A6B1F"/>
                </a:solidFill>
              </a:rPr>
              <a:t>3. HITL console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671A7-2D38-45CD-B860-864BE66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7241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客服、PM、法遵、資安看到同一筆對話的來源、風險、護欄命中與修正紀錄。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1B13B-ED3E-4D28-B087-3698810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11B"/>
                </a:solidFill>
              </a:defRPr>
            </a:pPr>
            <a:r>
              <a:rPr sz="1725" b="1">
                <a:solidFill>
                  <a:srgbClr val="15211B"/>
                </a:solidFill>
              </a:rPr>
              <a:t>設計原則：加在第 3、5、8、9 層之間，先做外掛式 trust pilot，再決定是否平台化。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D50EB-E302-43D1-B498-CFCE788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CD6E7-D400-4BC6-99FD-D99A7FC7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9755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6AE63B-F7B5-497C-8D46-4ECDF30C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06 · Architecture Slice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B164D-EA89-4252-8B9E-F1FB6B4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只改一條低風險服務路徑，就能驗證信任層。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56271-43FC-4D09-B340-AA91BBB6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A8B03-684A-4A25-A00E-ADB5D41D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752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7EE59-A7C6-4CDA-AC92-24BA1D91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63"/>
          </a:solidFill>
          <a:ln xmlns:a="http://schemas.openxmlformats.org/drawingml/2006/main" w="9525">
            <a:solidFill>
              <a:srgbClr val="5D6B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5A410-1682-49D4-B9A0-7D0720DD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11B"/>
                </a:solidFill>
              </a:defRPr>
            </a:pPr>
            <a:r>
              <a:rPr sz="1725" b="1">
                <a:solidFill>
                  <a:srgbClr val="15211B"/>
                </a:solidFill>
              </a:rPr>
              <a:t>Channel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3FD67-6BD6-44BC-B7E0-A7C2477D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D6B63"/>
                </a:solidFill>
              </a:defRPr>
            </a:pPr>
            <a:r>
              <a:rPr sz="1050">
                <a:solidFill>
                  <a:srgbClr val="5D6B63"/>
                </a:solidFill>
              </a:rPr>
              <a:t>官網 / App / 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7E2D8-6738-4D39-A7B7-F8210E11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6F4A"/>
                </a:solidFill>
              </a:defRPr>
            </a:pPr>
            <a:r>
              <a:rPr sz="2700" b="1">
                <a:solidFill>
                  <a:srgbClr val="1F6F4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DE662-829E-415E-AD53-A1A6659E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1752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4E217-850F-464A-8C97-C100C43D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7A"/>
          </a:solidFill>
          <a:ln xmlns:a="http://schemas.openxmlformats.org/drawingml/2006/main" w="9525">
            <a:solidFill>
              <a:srgbClr val="245F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AD642-BADA-4BDC-B5C9-89130EB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11B"/>
                </a:solidFill>
              </a:defRPr>
            </a:pPr>
            <a:r>
              <a:rPr sz="1725" b="1">
                <a:solidFill>
                  <a:srgbClr val="15211B"/>
                </a:solidFill>
              </a:rPr>
              <a:t>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62034-F1A3-4DFF-94D0-95802B80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D6B63"/>
                </a:solidFill>
              </a:defRPr>
            </a:pPr>
            <a:r>
              <a:rPr sz="1050">
                <a:solidFill>
                  <a:srgbClr val="5D6B63"/>
                </a:solidFill>
              </a:rPr>
              <a:t>業別、意圖、風險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E1341-4B88-473C-B9A8-87B615A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51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6F4A"/>
                </a:solidFill>
              </a:defRPr>
            </a:pPr>
            <a:r>
              <a:rPr sz="2700" b="1">
                <a:solidFill>
                  <a:srgbClr val="1F6F4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595C4-C72B-486C-9A5A-9D6AAF91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33650"/>
            <a:ext cx="1752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BA201-C36B-4042-8249-CFF0C90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336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B1F"/>
          </a:solidFill>
          <a:ln xmlns:a="http://schemas.openxmlformats.org/drawingml/2006/main" w="9525">
            <a:solidFill>
              <a:srgbClr val="9A6B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5B5F6-0611-42CB-BC72-4F92F45B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11B"/>
                </a:solidFill>
              </a:defRPr>
            </a:pPr>
            <a:r>
              <a:rPr sz="1725" b="1">
                <a:solidFill>
                  <a:srgbClr val="15211B"/>
                </a:solidFill>
              </a:rPr>
              <a:t>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475FD-00C5-4592-949B-0E1F317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D6B63"/>
                </a:solidFill>
              </a:defRPr>
            </a:pPr>
            <a:r>
              <a:rPr sz="1050">
                <a:solidFill>
                  <a:srgbClr val="5D6B63"/>
                </a:solidFill>
              </a:rPr>
              <a:t>檢索與來源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67A1F-EF97-4094-A3AD-BD191EDC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051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6F4A"/>
                </a:solidFill>
              </a:defRPr>
            </a:pPr>
            <a:r>
              <a:rPr sz="2700" b="1">
                <a:solidFill>
                  <a:srgbClr val="1F6F4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51A81-41C2-4692-8522-217BE714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33650"/>
            <a:ext cx="1752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286DB-2CFA-42A6-8C3A-9507CCBC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336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95BDC-8B65-430B-AB0C-17259E95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11B"/>
                </a:solidFill>
              </a:defRPr>
            </a:pPr>
            <a:r>
              <a:rPr sz="1725" b="1">
                <a:solidFill>
                  <a:srgbClr val="15211B"/>
                </a:solidFill>
              </a:rPr>
              <a:t>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1034A-4518-40C9-87D9-EF6B813C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623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D6B63"/>
                </a:solidFill>
              </a:defRPr>
            </a:pPr>
            <a:r>
              <a:rPr sz="1050">
                <a:solidFill>
                  <a:srgbClr val="5D6B63"/>
                </a:solidFill>
              </a:rPr>
              <a:t>生成 + 來源卡片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191B3-7ED1-48B9-BA4E-DCD3AD8C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6F4A"/>
                </a:solidFill>
              </a:defRPr>
            </a:pPr>
            <a:r>
              <a:rPr sz="2700" b="1">
                <a:solidFill>
                  <a:srgbClr val="1F6F4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92D0C-98C6-404C-84C9-B3E93F4B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1752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CB037-A098-4C27-B1EA-E52A92B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433E"/>
          </a:solidFill>
          <a:ln xmlns:a="http://schemas.openxmlformats.org/drawingml/2006/main" w="9525">
            <a:solidFill>
              <a:srgbClr val="94433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46B07-57C2-4BF0-9012-FE9973D4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11B"/>
                </a:solidFill>
              </a:defRPr>
            </a:pPr>
            <a:r>
              <a:rPr sz="1725" b="1">
                <a:solidFill>
                  <a:srgbClr val="15211B"/>
                </a:solidFill>
              </a:rPr>
              <a:t>Govern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F66DC-9364-4DA3-AB42-1845253E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623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D6B63"/>
                </a:solidFill>
              </a:defRPr>
            </a:pPr>
            <a:r>
              <a:rPr sz="1050">
                <a:solidFill>
                  <a:srgbClr val="5D6B63"/>
                </a:solidFill>
              </a:rPr>
              <a:t>護欄、audit、回滾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F7051F-7748-4F99-B4DD-379B3508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33875"/>
            <a:ext cx="885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E2DAE-EC09-4DAD-9F76-3088FCA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52950"/>
            <a:ext cx="836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4C33"/>
                </a:solidFill>
              </a:defRPr>
            </a:pPr>
            <a:r>
              <a:rPr sz="1650" b="1">
                <a:solidFill>
                  <a:srgbClr val="124C33"/>
                </a:solidFill>
              </a:rPr>
              <a:t>Pilot 場景建議：信用卡優惠、開戶 FAQ、貸款條件說明等低風險問答。排除個資、帳務與不可逆交易。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6E0065-8B5C-4E5F-9CD3-DBD0271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2C9474-F183-49E6-9711-4581CD08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7535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24C47-246E-447F-A0B8-FAFBE60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07 · 90-Day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F2E2D-E888-4C4F-8258-96BA842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新人前 90 天先建立可信任的切面，再要資源。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2D7E8-D208-4488-A8B3-C2828390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F917-5C00-4836-AEA2-19A96EF2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0EEA2-BEAF-47B5-88C4-5F309418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6F4A"/>
                </a:solidFill>
              </a:defRPr>
            </a:pPr>
            <a:r>
              <a:rPr sz="2850" b="1">
                <a:solidFill>
                  <a:srgbClr val="1F6F4A"/>
                </a:solidFill>
              </a:rPr>
              <a:t>0-30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5A30D-6CD4-4C94-BA20-99C4978F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11B"/>
                </a:solidFill>
              </a:defRPr>
            </a:pPr>
            <a:r>
              <a:rPr sz="2175" b="1">
                <a:solidFill>
                  <a:srgbClr val="15211B"/>
                </a:solidFill>
              </a:rPr>
              <a:t>Learn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F090C-A57A-4F5F-B18D-AFDB5C70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B63"/>
                </a:solidFill>
              </a:defRPr>
            </a:pPr>
            <a:r>
              <a:rPr sz="1275">
                <a:solidFill>
                  <a:srgbClr val="5D6B63"/>
                </a:solidFill>
              </a:rPr>
              <a:t>看懂現況：GAIA、阿發、客服失敗對話、法遵與資安紅線。</a:t>
            </a:r>
          </a:p>
          <a:p xmlns:a="http://schemas.openxmlformats.org/drawingml/2006/main">
            <a:pPr>
              <a:defRPr sz="1275">
                <a:solidFill>
                  <a:srgbClr val="5D6B63"/>
                </a:solidFill>
              </a:defRPr>
            </a:pPr>
            <a:r>
              <a:rPr sz="1275">
                <a:solidFill>
                  <a:srgbClr val="5D6B63"/>
                </a:solidFill>
              </a:rPr>
              <a:t>交付：問題分類與風險邊界。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86932-5236-417F-A01D-1F312860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CF397-BF0E-4259-871F-79D8CD8B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6F4A"/>
                </a:solidFill>
              </a:defRPr>
            </a:pPr>
            <a:r>
              <a:rPr sz="2850" b="1">
                <a:solidFill>
                  <a:srgbClr val="1F6F4A"/>
                </a:solidFill>
              </a:rPr>
              <a:t>31-60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F4C45-D9D9-4CC1-962E-B3A417CD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11B"/>
                </a:solidFill>
              </a:defRPr>
            </a:pPr>
            <a:r>
              <a:rPr sz="2175" b="1">
                <a:solidFill>
                  <a:srgbClr val="15211B"/>
                </a:solidFill>
              </a:rPr>
              <a:t>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CBA67-E346-4B61-9882-8DFCA819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B63"/>
                </a:solidFill>
              </a:defRPr>
            </a:pPr>
            <a:r>
              <a:rPr sz="1275">
                <a:solidFill>
                  <a:srgbClr val="5D6B63"/>
                </a:solidFill>
              </a:rPr>
              <a:t>畫清楚路徑：intent、RAG、護欄、轉真人與資料欄位。</a:t>
            </a:r>
          </a:p>
          <a:p xmlns:a="http://schemas.openxmlformats.org/drawingml/2006/main">
            <a:pPr>
              <a:defRPr sz="1275">
                <a:solidFill>
                  <a:srgbClr val="5D6B63"/>
                </a:solidFill>
              </a:defRPr>
            </a:pPr>
            <a:r>
              <a:rPr sz="1275">
                <a:solidFill>
                  <a:srgbClr val="5D6B63"/>
                </a:solidFill>
              </a:rPr>
              <a:t>交付：trust metrics 與 citation 原型。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BF59D-FE85-421A-BE49-8F50C0B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06B0C-B87E-42B7-A097-F8E48A3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6F4A"/>
                </a:solidFill>
              </a:defRPr>
            </a:pPr>
            <a:r>
              <a:rPr sz="2850" b="1">
                <a:solidFill>
                  <a:srgbClr val="1F6F4A"/>
                </a:solidFill>
              </a:rPr>
              <a:t>61-90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8746F-FB1B-4191-997C-7377E897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11B"/>
                </a:solidFill>
              </a:defRPr>
            </a:pPr>
            <a:r>
              <a:rPr sz="2175" b="1">
                <a:solidFill>
                  <a:srgbClr val="15211B"/>
                </a:solidFill>
              </a:rPr>
              <a:t>Propose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86929-2E97-467E-B189-BBAA737A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B63"/>
                </a:solidFill>
              </a:defRPr>
            </a:pPr>
            <a:r>
              <a:rPr sz="1275">
                <a:solidFill>
                  <a:srgbClr val="5D6B63"/>
                </a:solidFill>
              </a:rPr>
              <a:t>提 pilot：範圍、RACI、驗收、週報與升級條件。</a:t>
            </a:r>
          </a:p>
          <a:p xmlns:a="http://schemas.openxmlformats.org/drawingml/2006/main">
            <a:pPr>
              <a:defRPr sz="1275">
                <a:solidFill>
                  <a:srgbClr val="5D6B63"/>
                </a:solidFill>
              </a:defRPr>
            </a:pPr>
            <a:r>
              <a:rPr sz="1275">
                <a:solidFill>
                  <a:srgbClr val="5D6B63"/>
                </a:solidFill>
              </a:rPr>
              <a:t>交付：PRD、儀表板草圖、審核節點。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27234-F62B-4936-A947-CFE9727A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15DFD-F70B-4C78-AA92-C4EFD676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4155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AD5DC-5F95-4295-9473-4CC0F086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08 · Pilot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EA1BF-8F19-4205-B64F-656AB8E6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成功不看展示效果，看風險是否被量測與收斂。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EED7E-280A-4CB6-8042-307C251B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9BF25-4321-45C3-8BCF-1008AD0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E3B90-ED09-492C-B20F-4530E1FA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4C33"/>
                </a:solidFill>
              </a:defRPr>
            </a:pPr>
            <a:r>
              <a:rPr sz="3300" b="1">
                <a:solidFill>
                  <a:srgbClr val="124C33"/>
                </a:solidFill>
              </a:rPr>
              <a:t>90%+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0B82E-60E4-4D2C-9587-E605052E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384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11B"/>
                </a:solidFill>
              </a:defRPr>
            </a:pPr>
            <a:r>
              <a:rPr sz="1575" b="1">
                <a:solidFill>
                  <a:srgbClr val="15211B"/>
                </a:solidFill>
              </a:rPr>
              <a:t>低風險回答附來源比例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3C5D9-CCE1-4D79-883A-CF6C777B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74986-FF57-4E4E-B774-1BB82701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4C33"/>
                </a:solidFill>
              </a:defRPr>
            </a:pPr>
            <a:r>
              <a:rPr sz="3300" b="1">
                <a:solidFill>
                  <a:srgbClr val="124C33"/>
                </a:solidFill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E7252-18E4-4DD5-B8B0-79986B6D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11B"/>
                </a:solidFill>
              </a:defRPr>
            </a:pPr>
            <a:r>
              <a:rPr sz="1575" b="1">
                <a:solidFill>
                  <a:srgbClr val="15211B"/>
                </a:solidFill>
              </a:rPr>
              <a:t>紅線測試回放通過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92961-C7E9-4476-8B8C-4120F372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67A72-3FAA-41BD-A5A4-172F364B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4C33"/>
                </a:solidFill>
              </a:defRPr>
            </a:pPr>
            <a:r>
              <a:rPr sz="2550" b="1">
                <a:solidFill>
                  <a:srgbClr val="124C33"/>
                </a:solidFill>
              </a:rPr>
              <a:t>-10% to</a:t>
            </a:r>
          </a:p>
          <a:p xmlns:a="http://schemas.openxmlformats.org/drawingml/2006/main">
            <a:pPr>
              <a:defRPr sz="2550" b="1">
                <a:solidFill>
                  <a:srgbClr val="124C33"/>
                </a:solidFill>
              </a:defRPr>
            </a:pPr>
            <a:r>
              <a:rPr sz="2550" b="1">
                <a:solidFill>
                  <a:srgbClr val="124C33"/>
                </a:solidFill>
              </a:rPr>
              <a:t>-20%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BFB1E-5A10-4776-A290-38B64A6B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576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11B"/>
                </a:solidFill>
              </a:defRPr>
            </a:pPr>
            <a:r>
              <a:rPr sz="1575" b="1">
                <a:solidFill>
                  <a:srgbClr val="15211B"/>
                </a:solidFill>
              </a:rPr>
              <a:t>假設：客服查證時間下降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E28BF-E5F7-4DBB-A47B-01764EF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4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CA739-9337-43DC-8CDE-3FF13195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4433E"/>
                </a:solidFill>
              </a:defRPr>
            </a:pPr>
            <a:r>
              <a:rPr sz="3300" b="1">
                <a:solidFill>
                  <a:srgbClr val="94433E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A75E8-C660-4AB7-8513-C1EDF4E4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11B"/>
                </a:solidFill>
              </a:defRPr>
            </a:pPr>
            <a:r>
              <a:rPr sz="1575" b="1">
                <a:solidFill>
                  <a:srgbClr val="15211B"/>
                </a:solidFill>
              </a:rPr>
              <a:t>高風險問題直接生成最終答案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2FF6F-B318-493F-B7E8-31EE2D01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6B63"/>
                </a:solidFill>
              </a:defRPr>
            </a:pPr>
            <a:r>
              <a:rPr sz="1650" b="1">
                <a:solidFill>
                  <a:srgbClr val="5D6B63"/>
                </a:solidFill>
              </a:rPr>
              <a:t>所有指標都是 pilot 假設；第一階段重點是建立可量測基線，不是宣稱成效已經達成。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08138-981F-437C-95D6-EE263AA1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33C7B-5F28-498F-B8B7-650C20A2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43784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210328-F892-4A43-B747-72DC9C05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4A"/>
                </a:solidFill>
              </a:defRPr>
            </a:pPr>
            <a:r>
              <a:rPr sz="975" b="1">
                <a:solidFill>
                  <a:srgbClr val="1F6F4A"/>
                </a:solidFill>
              </a:rPr>
              <a:t>09 · Proposal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C1B2D-20D3-4671-8577-54A9E7A6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11B"/>
                </a:solidFill>
              </a:defRPr>
            </a:pPr>
            <a:r>
              <a:rPr sz="3000" b="1">
                <a:solidFill>
                  <a:srgbClr val="15211B"/>
                </a:solidFill>
              </a:rPr>
              <a:t>請批准一個低風險 trust pilot，而不是大型重構。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CB2BB-6108-4AE7-B2B8-623EDEDE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B351C-3F4B-4314-AB73-C76BFB96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200BA-3B71-4569-A915-4022274A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596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11B"/>
                </a:solidFill>
              </a:defRPr>
            </a:pPr>
            <a:r>
              <a:rPr sz="1650" b="1">
                <a:solidFill>
                  <a:srgbClr val="15211B"/>
                </a:solidFill>
              </a:rPr>
              <a:t>範圍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AD280-D9D1-4ECE-A158-2E637D4F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596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選一個低風險問答場景，跑 citation-first、信心門檻、HITL console 三件事。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2490F-3F6E-4453-BF1B-25509AC8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BC92E-4BDE-47A5-BD3B-A5C716B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596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11B"/>
                </a:solidFill>
              </a:defRPr>
            </a:pPr>
            <a:r>
              <a:rPr sz="1650" b="1">
                <a:solidFill>
                  <a:srgbClr val="15211B"/>
                </a:solidFill>
              </a:rPr>
              <a:t>參與者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E9410-4253-4E3E-A3B2-3B1EE1DD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596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PM、客服、法遵、資安、工程各一位 owner；週會只看風險、資料缺口與修正回流。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41C5B-5D74-41E5-A210-53BD0D8A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4A"/>
          </a:solidFill>
          <a:ln xmlns:a="http://schemas.openxmlformats.org/drawingml/2006/main" w="9525">
            <a:solidFill>
              <a:srgbClr val="1F6F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D852A-6CB3-4E96-B666-5081D9BA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596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11B"/>
                </a:solidFill>
              </a:defRPr>
            </a:pPr>
            <a:r>
              <a:rPr sz="1650" b="1">
                <a:solidFill>
                  <a:srgbClr val="15211B"/>
                </a:solidFill>
              </a:rPr>
              <a:t>決策點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5B13A-322A-41DF-9523-1AEB814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596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63"/>
                </a:solidFill>
              </a:defRPr>
            </a:pPr>
            <a:r>
              <a:rPr sz="1200">
                <a:solidFill>
                  <a:srgbClr val="5D6B63"/>
                </a:solidFill>
              </a:rPr>
              <a:t>90 天後用來源覆蓋率、紅線測試、客服查證時間與轉真人品質決定是否擴大。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74490-418A-4DD0-ABBC-E0726EF2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9ECA6-F2DB-4DC7-8BAB-057F1AF1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4C33"/>
                </a:solidFill>
              </a:defRPr>
            </a:pPr>
            <a:r>
              <a:rPr sz="1800" b="1">
                <a:solidFill>
                  <a:srgbClr val="124C33"/>
                </a:solidFill>
              </a:rPr>
              <a:t>一句話收尾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70F41-61C5-436B-BF06-471CC2D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190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11B"/>
                </a:solidFill>
              </a:defRPr>
            </a:pPr>
            <a:r>
              <a:rPr sz="2550" b="1">
                <a:solidFill>
                  <a:srgbClr val="15211B"/>
                </a:solidFill>
              </a:rPr>
              <a:t>能回答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1">
                <a:solidFill>
                  <a:srgbClr val="15211B"/>
                </a:solidFill>
              </a:defRPr>
            </a:pPr>
            <a:r>
              <a:rPr sz="2550" b="1">
                <a:solidFill>
                  <a:srgbClr val="15211B"/>
                </a:solidFill>
              </a:rP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1">
                <a:solidFill>
                  <a:srgbClr val="15211B"/>
                </a:solidFill>
              </a:defRPr>
            </a:pPr>
            <a:r>
              <a:rPr sz="2550" b="1">
                <a:solidFill>
                  <a:srgbClr val="15211B"/>
                </a:solidFill>
              </a:rPr>
              <a:t>可信任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D5FFF-BC7D-4079-86A0-97D6D526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B63"/>
                </a:solidFill>
              </a:defRPr>
            </a:pPr>
            <a:r>
              <a:rPr sz="825">
                <a:solidFill>
                  <a:srgbClr val="5D6B63"/>
                </a:solidFill>
              </a:rPr>
              <a:t>Codex-version · public information review · 2026-06-26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41A9C-A975-440E-B648-EB9D3F16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63"/>
                </a:solidFill>
              </a:defRPr>
            </a:pPr>
            <a:r>
              <a:rPr sz="900" b="1">
                <a:solidFill>
                  <a:srgbClr val="5D6B6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044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2026-06-26T11:15:55.4280000Z</dcterms:created>
  <dcterms:modified xsi:type="dcterms:W3CDTF">2026-06-26T11:15:55.4280000Z</dcterms:modified>
</coreProperties>
</file>
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  <Relationship Id="rId11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shape"/>
          <p:cNvSpPr/>
          <p:nvPr/>
        </p:nvSpPr>
        <p:spPr>
          <a:xfrm>
            <a:off x="411480" y="411480"/>
            <a:ext cx="11384280" cy="60167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731520" y="786384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FUNDSWAP INTERVIEW PORTFOLIO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731520" y="1152144"/>
            <a:ext cx="6583680" cy="16642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3200" b="1">
                <a:solidFill>
                  <a:srgbClr val="262626"/>
                </a:solidFill>
                <a:latin typeface="Noto Sans TC"/>
                <a:ea typeface="Noto Sans TC"/>
              </a:rPr>
              <a:t>從基金資料網站，</a:t>
            </a:r>
          </a:p>
          <a:p>
            <a:pPr algn="l"/>
            <a:r>
              <a:rPr lang="zh-TW" sz="3200" b="1">
                <a:solidFill>
                  <a:srgbClr val="262626"/>
                </a:solidFill>
                <a:latin typeface="Noto Sans TC"/>
                <a:ea typeface="Noto Sans TC"/>
              </a:rPr>
              <a:t>改成能幫使用者做判斷的基金探索體驗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768096" y="3090672"/>
            <a:ext cx="55778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500">
                <a:solidFill>
                  <a:srgbClr val="666666"/>
                </a:solidFill>
                <a:latin typeface="Noto Sans TC"/>
                <a:ea typeface="Noto Sans TC"/>
              </a:rPr>
              <a:t>核心觀點：FundSwap 的問題不是基金資料不夠，而是使用者缺少把資料轉成投資決策的路徑。</a:t>
            </a:r>
          </a:p>
        </p:txBody>
      </p:sp>
      <p:sp>
        <p:nvSpPr>
          <p:cNvPr id="7" name="shape"/>
          <p:cNvSpPr/>
          <p:nvPr/>
        </p:nvSpPr>
        <p:spPr>
          <a:xfrm>
            <a:off x="6949440" y="1325880"/>
            <a:ext cx="4251960" cy="1965960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8" name="text"/>
          <p:cNvSpPr txBox="1"/>
          <p:nvPr/>
        </p:nvSpPr>
        <p:spPr>
          <a:xfrm>
            <a:off x="7269480" y="166420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設計取捨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269480" y="2057400"/>
            <a:ext cx="347472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700" b="1">
                <a:solidFill>
                  <a:srgbClr val="262626"/>
                </a:solidFill>
                <a:latin typeface="Noto Sans TC"/>
                <a:ea typeface="Noto Sans TC"/>
              </a:rPr>
              <a:t>保留品牌與金融信任感，</a:t>
            </a:r>
          </a:p>
          <a:p>
            <a:pPr algn="l"/>
            <a:r>
              <a:rPr lang="zh-TW" sz="1700" b="1">
                <a:solidFill>
                  <a:srgbClr val="262626"/>
                </a:solidFill>
                <a:latin typeface="Noto Sans TC"/>
                <a:ea typeface="Noto Sans TC"/>
              </a:rPr>
              <a:t>只重構入口、篩選、比較與決策輔助層。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77240" y="512064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FF7E40"/>
                </a:solidFill>
                <a:latin typeface="Noto Sans TC"/>
                <a:ea typeface="Noto Sans TC"/>
              </a:rPr>
              <a:t>10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77240" y="550468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頁簡報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2697480" y="512064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FF7E40"/>
                </a:solidFill>
                <a:latin typeface="Noto Sans TC"/>
                <a:ea typeface="Noto Sans TC"/>
              </a:rPr>
              <a:t>7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697480" y="550468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Demo 頁面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617720" y="5120640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FF7E40"/>
                </a:solidFill>
                <a:latin typeface="Noto Sans TC"/>
                <a:ea typeface="Noto Sans TC"/>
              </a:rPr>
              <a:t>5-8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617720" y="5504688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分鐘展示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1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OUTLINE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PPT 與 Demo 網站一一對應，5-8 分鐘可講完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9" name="ellipse"/>
          <p:cNvSpPr/>
          <p:nvPr/>
        </p:nvSpPr>
        <p:spPr>
          <a:xfrm>
            <a:off x="685800" y="1481328"/>
            <a:ext cx="347472" cy="347472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749808" y="157276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700" b="1">
                <a:solidFill>
                  <a:srgbClr val="FFFFFF"/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234440" y="147218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封面 / 核心觀點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3108960" y="1481328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對應 index.html：問題不是資料不夠，而是缺少決策路徑。</a:t>
            </a:r>
          </a:p>
        </p:txBody>
      </p:sp>
      <p:sp>
        <p:nvSpPr>
          <p:cNvPr id="13" name="ellipse"/>
          <p:cNvSpPr/>
          <p:nvPr/>
        </p:nvSpPr>
        <p:spPr>
          <a:xfrm>
            <a:off x="685800" y="2304288"/>
            <a:ext cx="347472" cy="347472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749808" y="239572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700" b="1">
                <a:solidFill>
                  <a:srgbClr val="FFFFFF"/>
                </a:solidFill>
                <a:latin typeface="Noto Sans TC"/>
                <a:ea typeface="Noto Sans TC"/>
              </a:rPr>
              <a:t>02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234440" y="229514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現況診斷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3108960" y="2304288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對應 01-audit-report.html：找基金像資料庫，照妖鏡缺少解讀。</a:t>
            </a:r>
          </a:p>
        </p:txBody>
      </p:sp>
      <p:sp>
        <p:nvSpPr>
          <p:cNvPr id="17" name="ellipse"/>
          <p:cNvSpPr/>
          <p:nvPr/>
        </p:nvSpPr>
        <p:spPr>
          <a:xfrm>
            <a:off x="685800" y="3127248"/>
            <a:ext cx="347472" cy="347472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749808" y="321868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700" b="1">
                <a:solidFill>
                  <a:srgbClr val="FFFFFF"/>
                </a:solidFill>
                <a:latin typeface="Noto Sans TC"/>
                <a:ea typeface="Noto Sans TC"/>
              </a:rPr>
              <a:t>03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234440" y="311810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核心改版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3108960" y="3127248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對應 03-new-fund-mirror.html：先選需求，再看四象限。</a:t>
            </a:r>
          </a:p>
        </p:txBody>
      </p:sp>
      <p:sp>
        <p:nvSpPr>
          <p:cNvPr id="21" name="ellipse"/>
          <p:cNvSpPr/>
          <p:nvPr/>
        </p:nvSpPr>
        <p:spPr>
          <a:xfrm>
            <a:off x="685800" y="3950208"/>
            <a:ext cx="347472" cy="347472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749808" y="404164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700" b="1">
                <a:solidFill>
                  <a:srgbClr val="FFFFFF"/>
                </a:solidFill>
                <a:latin typeface="Noto Sans TC"/>
                <a:ea typeface="Noto Sans TC"/>
              </a:rPr>
              <a:t>04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234440" y="394106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列表與新手入口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3108960" y="3950208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對應 04 / 05：用篩選與問答降低選擇焦慮。</a:t>
            </a:r>
          </a:p>
        </p:txBody>
      </p:sp>
      <p:sp>
        <p:nvSpPr>
          <p:cNvPr id="25" name="ellipse"/>
          <p:cNvSpPr/>
          <p:nvPr/>
        </p:nvSpPr>
        <p:spPr>
          <a:xfrm>
            <a:off x="685800" y="4773168"/>
            <a:ext cx="347472" cy="347472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749808" y="4864608"/>
            <a:ext cx="219456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700" b="1">
                <a:solidFill>
                  <a:srgbClr val="FFFFFF"/>
                </a:solidFill>
                <a:latin typeface="Noto Sans TC"/>
                <a:ea typeface="Noto Sans TC"/>
              </a:rPr>
              <a:t>05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234440" y="476402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資深比較與要求對照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3108960" y="4773168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對應 06 / 07：Arena 深度比較，mapping 證明題目已回應。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TASK READ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我把題目拆成三個交付，不平均用力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03</a:t>
            </a:r>
          </a:p>
        </p:txBody>
      </p:sp>
      <p:sp>
        <p:nvSpPr>
          <p:cNvPr id="9" name="shape"/>
          <p:cNvSpPr/>
          <p:nvPr/>
        </p:nvSpPr>
        <p:spPr>
          <a:xfrm>
            <a:off x="640080" y="1417320"/>
            <a:ext cx="324612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0" name="shape"/>
          <p:cNvSpPr/>
          <p:nvPr/>
        </p:nvSpPr>
        <p:spPr>
          <a:xfrm>
            <a:off x="868680" y="1691640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932688" y="1741932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任務 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68680" y="2148840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000" b="1">
                <a:solidFill>
                  <a:srgbClr val="262626"/>
                </a:solidFill>
                <a:latin typeface="Noto Sans TC"/>
                <a:ea typeface="Noto Sans TC"/>
              </a:rPr>
              <a:t>找基金 / 基金照妖鏡優劣分析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68680" y="2971800"/>
            <a:ext cx="260604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用 UI、資訊效率、操作路徑、視覺化與決策輔助五個維度拆解。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68680" y="43251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完成度</a:t>
            </a:r>
          </a:p>
        </p:txBody>
      </p:sp>
      <p:sp>
        <p:nvSpPr>
          <p:cNvPr id="15" name="shape"/>
          <p:cNvSpPr/>
          <p:nvPr/>
        </p:nvSpPr>
        <p:spPr>
          <a:xfrm>
            <a:off x="2441448" y="4343400"/>
            <a:ext cx="14173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6" name="shape"/>
          <p:cNvSpPr/>
          <p:nvPr/>
        </p:nvSpPr>
        <p:spPr>
          <a:xfrm>
            <a:off x="2441448" y="4343400"/>
            <a:ext cx="1275588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3931920" y="428853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90</a:t>
            </a:r>
          </a:p>
        </p:txBody>
      </p:sp>
      <p:sp>
        <p:nvSpPr>
          <p:cNvPr id="18" name="shape"/>
          <p:cNvSpPr/>
          <p:nvPr/>
        </p:nvSpPr>
        <p:spPr>
          <a:xfrm>
            <a:off x="4343400" y="1417320"/>
            <a:ext cx="324612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9" name="shape"/>
          <p:cNvSpPr/>
          <p:nvPr/>
        </p:nvSpPr>
        <p:spPr>
          <a:xfrm>
            <a:off x="4572000" y="1691640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4636008" y="1741932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任務 2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0" y="2148840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000" b="1">
                <a:solidFill>
                  <a:srgbClr val="262626"/>
                </a:solidFill>
                <a:latin typeface="Noto Sans TC"/>
                <a:ea typeface="Noto Sans TC"/>
              </a:rPr>
              <a:t>基金照妖鏡 0 到 1 複盤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572000" y="2971800"/>
            <a:ext cx="260604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保留散點圖，但不讓它成為第一步；先問投資需求。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572000" y="43251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完成度</a:t>
            </a:r>
          </a:p>
        </p:txBody>
      </p:sp>
      <p:sp>
        <p:nvSpPr>
          <p:cNvPr id="24" name="shape"/>
          <p:cNvSpPr/>
          <p:nvPr/>
        </p:nvSpPr>
        <p:spPr>
          <a:xfrm>
            <a:off x="6144768" y="4343400"/>
            <a:ext cx="14173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6144768" y="4343400"/>
            <a:ext cx="1303934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7635240" y="428853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92</a:t>
            </a:r>
          </a:p>
        </p:txBody>
      </p:sp>
      <p:sp>
        <p:nvSpPr>
          <p:cNvPr id="27" name="shape"/>
          <p:cNvSpPr/>
          <p:nvPr/>
        </p:nvSpPr>
        <p:spPr>
          <a:xfrm>
            <a:off x="8046719" y="1417320"/>
            <a:ext cx="3246120" cy="3611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8" name="shape"/>
          <p:cNvSpPr/>
          <p:nvPr/>
        </p:nvSpPr>
        <p:spPr>
          <a:xfrm>
            <a:off x="8275319" y="1691640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8339327" y="1741932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任務 3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275319" y="2148840"/>
            <a:ext cx="260604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000" b="1">
                <a:solidFill>
                  <a:srgbClr val="262626"/>
                </a:solidFill>
                <a:latin typeface="Noto Sans TC"/>
                <a:ea typeface="Noto Sans TC"/>
              </a:rPr>
              <a:t>創新基金篩選方案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275319" y="2971800"/>
            <a:ext cx="2606040" cy="8046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用問答精靈降低新手焦慮，用 Arena 滿足資深比較。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275319" y="43251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完成度</a:t>
            </a:r>
          </a:p>
        </p:txBody>
      </p:sp>
      <p:sp>
        <p:nvSpPr>
          <p:cNvPr id="33" name="shape"/>
          <p:cNvSpPr/>
          <p:nvPr/>
        </p:nvSpPr>
        <p:spPr>
          <a:xfrm>
            <a:off x="9848088" y="4343400"/>
            <a:ext cx="14173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34" name="shape"/>
          <p:cNvSpPr/>
          <p:nvPr/>
        </p:nvSpPr>
        <p:spPr>
          <a:xfrm>
            <a:off x="9848088" y="4343400"/>
            <a:ext cx="1360627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11338560" y="428853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96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640080" y="56235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判斷：這不是品牌重設案，而是基金探索流程升級案。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DIAGNOSIS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現在最大的落差：資料很多，但使用者不知道該怎麼判斷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04</a:t>
            </a:r>
          </a:p>
        </p:txBody>
      </p:sp>
      <p:sp>
        <p:nvSpPr>
          <p:cNvPr id="9" name="shape"/>
          <p:cNvSpPr/>
          <p:nvPr/>
        </p:nvSpPr>
        <p:spPr>
          <a:xfrm>
            <a:off x="658368" y="1444752"/>
            <a:ext cx="489204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960120" y="17373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000" b="1">
                <a:solidFill>
                  <a:srgbClr val="262626"/>
                </a:solidFill>
                <a:latin typeface="Noto Sans TC"/>
                <a:ea typeface="Noto Sans TC"/>
              </a:rPr>
              <a:t>找基金頁</a:t>
            </a:r>
          </a:p>
        </p:txBody>
      </p:sp>
      <p:sp>
        <p:nvSpPr>
          <p:cNvPr id="11" name="ellipse"/>
          <p:cNvSpPr/>
          <p:nvPr/>
        </p:nvSpPr>
        <p:spPr>
          <a:xfrm>
            <a:off x="960120" y="2304288"/>
            <a:ext cx="146304" cy="146304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234440" y="224028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像資料庫，沒有先問使用者要解決什麼</a:t>
            </a:r>
          </a:p>
        </p:txBody>
      </p:sp>
      <p:sp>
        <p:nvSpPr>
          <p:cNvPr id="13" name="ellipse"/>
          <p:cNvSpPr/>
          <p:nvPr/>
        </p:nvSpPr>
        <p:spPr>
          <a:xfrm>
            <a:off x="960120" y="2980944"/>
            <a:ext cx="146304" cy="146304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234440" y="2916936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排序對進階用戶有效，對新手缺少引導</a:t>
            </a:r>
          </a:p>
        </p:txBody>
      </p:sp>
      <p:sp>
        <p:nvSpPr>
          <p:cNvPr id="15" name="ellipse"/>
          <p:cNvSpPr/>
          <p:nvPr/>
        </p:nvSpPr>
        <p:spPr>
          <a:xfrm>
            <a:off x="960120" y="3657600"/>
            <a:ext cx="146304" cy="146304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1234440" y="3593592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基金名稱與報酬率很多，卻沒有回答適不適合我</a:t>
            </a:r>
          </a:p>
        </p:txBody>
      </p:sp>
      <p:sp>
        <p:nvSpPr>
          <p:cNvPr id="17" name="shape"/>
          <p:cNvSpPr/>
          <p:nvPr/>
        </p:nvSpPr>
        <p:spPr>
          <a:xfrm>
            <a:off x="6446520" y="1444752"/>
            <a:ext cx="4892040" cy="4023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6748272" y="17373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000" b="1">
                <a:solidFill>
                  <a:srgbClr val="262626"/>
                </a:solidFill>
                <a:latin typeface="Noto Sans TC"/>
                <a:ea typeface="Noto Sans TC"/>
              </a:rPr>
              <a:t>基金照妖鏡</a:t>
            </a:r>
          </a:p>
        </p:txBody>
      </p:sp>
      <p:sp>
        <p:nvSpPr>
          <p:cNvPr id="19" name="ellipse"/>
          <p:cNvSpPr/>
          <p:nvPr/>
        </p:nvSpPr>
        <p:spPr>
          <a:xfrm>
            <a:off x="6748272" y="2304288"/>
            <a:ext cx="146304" cy="146304"/>
          </a:xfrm>
          <a:prstGeom prst="ellipse">
            <a:avLst/>
          </a:prstGeom>
          <a:solidFill>
            <a:srgbClr val="0EB9B5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7022592" y="224028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散點圖方向正確，嘗試把報酬與風險視覺化</a:t>
            </a:r>
          </a:p>
        </p:txBody>
      </p:sp>
      <p:sp>
        <p:nvSpPr>
          <p:cNvPr id="21" name="ellipse"/>
          <p:cNvSpPr/>
          <p:nvPr/>
        </p:nvSpPr>
        <p:spPr>
          <a:xfrm>
            <a:off x="6748272" y="2980944"/>
            <a:ext cx="146304" cy="146304"/>
          </a:xfrm>
          <a:prstGeom prst="ellipse">
            <a:avLst/>
          </a:prstGeom>
          <a:solidFill>
            <a:srgbClr val="0EB9B5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7022592" y="2916936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CP 值需要被翻譯，不然只是另一個數字</a:t>
            </a:r>
          </a:p>
        </p:txBody>
      </p:sp>
      <p:sp>
        <p:nvSpPr>
          <p:cNvPr id="23" name="ellipse"/>
          <p:cNvSpPr/>
          <p:nvPr/>
        </p:nvSpPr>
        <p:spPr>
          <a:xfrm>
            <a:off x="6748272" y="3657600"/>
            <a:ext cx="146304" cy="146304"/>
          </a:xfrm>
          <a:prstGeom prst="ellipse">
            <a:avLst/>
          </a:prstGeom>
          <a:solidFill>
            <a:srgbClr val="0EB9B5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7022592" y="3593592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>
                <a:solidFill>
                  <a:srgbClr val="666666"/>
                </a:solidFill>
                <a:latin typeface="Noto Sans TC"/>
                <a:ea typeface="Noto Sans TC"/>
              </a:rPr>
              <a:t>同一張圖對不同投資者講同一套話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13232" y="5779008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1500" b="1">
                <a:solidFill>
                  <a:srgbClr val="262626"/>
                </a:solidFill>
                <a:latin typeface="Noto Sans TC"/>
                <a:ea typeface="Noto Sans TC"/>
              </a:rPr>
              <a:t>Demo 對應：01-audit-report.html。結論是補決策路徑，不是再堆欄位。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MULTI-AGENT LOGIC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多 Agent 不是角色扮演，而是讓每個取捨都有審查角度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05</a:t>
            </a:r>
          </a:p>
        </p:txBody>
      </p:sp>
      <p:sp>
        <p:nvSpPr>
          <p:cNvPr id="9" name="shape"/>
          <p:cNvSpPr/>
          <p:nvPr/>
        </p:nvSpPr>
        <p:spPr>
          <a:xfrm>
            <a:off x="658368" y="1417320"/>
            <a:ext cx="3246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0" name="shape"/>
          <p:cNvSpPr/>
          <p:nvPr/>
        </p:nvSpPr>
        <p:spPr>
          <a:xfrm>
            <a:off x="859536" y="1600200"/>
            <a:ext cx="868680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923544" y="1650492"/>
            <a:ext cx="740664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661D"/>
                </a:solidFill>
                <a:latin typeface="Noto Sans TC"/>
                <a:ea typeface="Noto Sans TC"/>
              </a:rPr>
              <a:t>Agent 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59536" y="19476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UX Research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59536" y="228600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150">
                <a:solidFill>
                  <a:srgbClr val="666666"/>
                </a:solidFill>
                <a:latin typeface="Noto Sans TC"/>
                <a:ea typeface="Noto Sans TC"/>
              </a:rPr>
              <a:t>找出新手焦慮與資深比較需求</a:t>
            </a:r>
          </a:p>
        </p:txBody>
      </p:sp>
      <p:sp>
        <p:nvSpPr>
          <p:cNvPr id="14" name="shape"/>
          <p:cNvSpPr/>
          <p:nvPr/>
        </p:nvSpPr>
        <p:spPr>
          <a:xfrm>
            <a:off x="4361688" y="1417320"/>
            <a:ext cx="3246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5" name="shape"/>
          <p:cNvSpPr/>
          <p:nvPr/>
        </p:nvSpPr>
        <p:spPr>
          <a:xfrm>
            <a:off x="4562855" y="1600200"/>
            <a:ext cx="868680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4626864" y="1650492"/>
            <a:ext cx="740664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661D"/>
                </a:solidFill>
                <a:latin typeface="Noto Sans TC"/>
                <a:ea typeface="Noto Sans TC"/>
              </a:rPr>
              <a:t>Agent 2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562855" y="19476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Finance Product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62855" y="228600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150">
                <a:solidFill>
                  <a:srgbClr val="666666"/>
                </a:solidFill>
                <a:latin typeface="Noto Sans TC"/>
                <a:ea typeface="Noto Sans TC"/>
              </a:rPr>
              <a:t>確認報酬、波動、CP、配息語意</a:t>
            </a:r>
          </a:p>
        </p:txBody>
      </p:sp>
      <p:sp>
        <p:nvSpPr>
          <p:cNvPr id="19" name="shape"/>
          <p:cNvSpPr/>
          <p:nvPr/>
        </p:nvSpPr>
        <p:spPr>
          <a:xfrm>
            <a:off x="8065008" y="1417320"/>
            <a:ext cx="3246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0" name="shape"/>
          <p:cNvSpPr/>
          <p:nvPr/>
        </p:nvSpPr>
        <p:spPr>
          <a:xfrm>
            <a:off x="8266176" y="1600200"/>
            <a:ext cx="868680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8330184" y="1650492"/>
            <a:ext cx="740664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661D"/>
                </a:solidFill>
                <a:latin typeface="Noto Sans TC"/>
                <a:ea typeface="Noto Sans TC"/>
              </a:rPr>
              <a:t>Agent 3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266176" y="1947672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CRO / Growth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266176" y="228600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150">
                <a:solidFill>
                  <a:srgbClr val="666666"/>
                </a:solidFill>
                <a:latin typeface="Noto Sans TC"/>
                <a:ea typeface="Noto Sans TC"/>
              </a:rPr>
              <a:t>讓 CTA 承接猶豫，不急著推交易</a:t>
            </a:r>
          </a:p>
        </p:txBody>
      </p:sp>
      <p:sp>
        <p:nvSpPr>
          <p:cNvPr id="24" name="shape"/>
          <p:cNvSpPr/>
          <p:nvPr/>
        </p:nvSpPr>
        <p:spPr>
          <a:xfrm>
            <a:off x="658368" y="3291839"/>
            <a:ext cx="3246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859536" y="3474720"/>
            <a:ext cx="868680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923544" y="3525012"/>
            <a:ext cx="740664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661D"/>
                </a:solidFill>
                <a:latin typeface="Noto Sans TC"/>
                <a:ea typeface="Noto Sans TC"/>
              </a:rPr>
              <a:t>Agent 4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59536" y="3822191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Compliance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59536" y="416052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150">
                <a:solidFill>
                  <a:srgbClr val="666666"/>
                </a:solidFill>
                <a:latin typeface="Noto Sans TC"/>
                <a:ea typeface="Noto Sans TC"/>
              </a:rPr>
              <a:t>避免推薦語氣，改成篩選輔助</a:t>
            </a:r>
          </a:p>
        </p:txBody>
      </p:sp>
      <p:sp>
        <p:nvSpPr>
          <p:cNvPr id="29" name="shape"/>
          <p:cNvSpPr/>
          <p:nvPr/>
        </p:nvSpPr>
        <p:spPr>
          <a:xfrm>
            <a:off x="4361688" y="3291839"/>
            <a:ext cx="324612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30" name="shape"/>
          <p:cNvSpPr/>
          <p:nvPr/>
        </p:nvSpPr>
        <p:spPr>
          <a:xfrm>
            <a:off x="4562855" y="3474720"/>
            <a:ext cx="868680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4626864" y="3525012"/>
            <a:ext cx="740664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661D"/>
                </a:solidFill>
                <a:latin typeface="Noto Sans TC"/>
                <a:ea typeface="Noto Sans TC"/>
              </a:rPr>
              <a:t>Agent 5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562855" y="3822191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UI / Frontend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4562855" y="4160520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150">
                <a:solidFill>
                  <a:srgbClr val="666666"/>
                </a:solidFill>
                <a:latin typeface="Noto Sans TC"/>
                <a:ea typeface="Noto Sans TC"/>
              </a:rPr>
              <a:t>保留品牌色，完成可互動 Demo</a:t>
            </a:r>
          </a:p>
        </p:txBody>
      </p:sp>
      <p:sp>
        <p:nvSpPr>
          <p:cNvPr id="34" name="shape"/>
          <p:cNvSpPr/>
          <p:nvPr/>
        </p:nvSpPr>
        <p:spPr>
          <a:xfrm>
            <a:off x="8074152" y="3291840"/>
            <a:ext cx="3200400" cy="1645920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8339327" y="360273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800" b="1">
                <a:solidFill>
                  <a:srgbClr val="262626"/>
                </a:solidFill>
                <a:latin typeface="Noto Sans TC"/>
                <a:ea typeface="Noto Sans TC"/>
              </a:rPr>
              <a:t>共同決策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339327" y="400507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>
                <a:solidFill>
                  <a:srgbClr val="666666"/>
                </a:solidFill>
                <a:latin typeface="Noto Sans TC"/>
                <a:ea typeface="Noto Sans TC"/>
              </a:rPr>
              <a:t>保留品牌，重構流程；不做投資推薦，做決策輔助。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694944" y="5724144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00" b="1">
                <a:solidFill>
                  <a:srgbClr val="666666"/>
                </a:solidFill>
                <a:latin typeface="Noto Sans TC"/>
                <a:ea typeface="Noto Sans TC"/>
              </a:rPr>
              <a:t>Demo 對應：index.html、07-requirement-mapping.html。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CORE REDESIGN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新版基金照妖鏡：散點圖保留，但不再是第一步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06</a:t>
            </a:r>
          </a:p>
        </p:txBody>
      </p:sp>
      <p:sp>
        <p:nvSpPr>
          <p:cNvPr id="9" name="shape"/>
          <p:cNvSpPr/>
          <p:nvPr/>
        </p:nvSpPr>
        <p:spPr>
          <a:xfrm>
            <a:off x="713232" y="1417320"/>
            <a:ext cx="23957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0" name="ellipse"/>
          <p:cNvSpPr/>
          <p:nvPr/>
        </p:nvSpPr>
        <p:spPr>
          <a:xfrm>
            <a:off x="914400" y="1709928"/>
            <a:ext cx="329184" cy="329184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1014984" y="1792224"/>
            <a:ext cx="109728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800" b="1">
                <a:solidFill>
                  <a:srgbClr val="FFFFFF"/>
                </a:solidFill>
                <a:latin typeface="Noto Sans TC"/>
                <a:ea typeface="Noto Sans TC"/>
              </a:rPr>
              <a:t>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371600" y="16276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400" b="1">
                <a:solidFill>
                  <a:srgbClr val="262626"/>
                </a:solidFill>
                <a:latin typeface="Noto Sans TC"/>
                <a:ea typeface="Noto Sans TC"/>
              </a:rPr>
              <a:t>選投資需求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371600" y="199339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50">
                <a:solidFill>
                  <a:srgbClr val="666666"/>
                </a:solidFill>
                <a:latin typeface="Noto Sans TC"/>
                <a:ea typeface="Noto Sans TC"/>
              </a:rPr>
              <a:t>新手 / 穩健 / 積極 / 配息</a:t>
            </a:r>
          </a:p>
        </p:txBody>
      </p:sp>
      <p:cxnSp>
        <p:nvCxnSpPr>
          <p:cNvPr id="14" name="line"/>
          <p:cNvCxnSpPr/>
          <p:nvPr/>
        </p:nvCxnSpPr>
        <p:spPr>
          <a:xfrm>
            <a:off x="3154680" y="2057400"/>
            <a:ext cx="301752" cy="0"/>
          </a:xfrm>
          <a:prstGeom prst="line">
            <a:avLst/>
          </a:prstGeom>
          <a:ln w="25400">
            <a:solidFill>
              <a:srgbClr val="FF9664"/>
            </a:solidFill>
          </a:ln>
        </p:spPr>
      </p:cxnSp>
      <p:sp>
        <p:nvSpPr>
          <p:cNvPr id="15" name="shape"/>
          <p:cNvSpPr/>
          <p:nvPr/>
        </p:nvSpPr>
        <p:spPr>
          <a:xfrm>
            <a:off x="3529584" y="1417320"/>
            <a:ext cx="23957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6" name="ellipse"/>
          <p:cNvSpPr/>
          <p:nvPr/>
        </p:nvSpPr>
        <p:spPr>
          <a:xfrm>
            <a:off x="3730752" y="1709928"/>
            <a:ext cx="329184" cy="329184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3831336" y="1792224"/>
            <a:ext cx="109728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800" b="1">
                <a:solidFill>
                  <a:srgbClr val="FFFFFF"/>
                </a:solidFill>
                <a:latin typeface="Noto Sans TC"/>
                <a:ea typeface="Noto Sans TC"/>
              </a:rPr>
              <a:t>2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187952" y="16276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400" b="1">
                <a:solidFill>
                  <a:srgbClr val="262626"/>
                </a:solidFill>
                <a:latin typeface="Noto Sans TC"/>
                <a:ea typeface="Noto Sans TC"/>
              </a:rPr>
              <a:t>切換依據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187952" y="199339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50">
                <a:solidFill>
                  <a:srgbClr val="666666"/>
                </a:solidFill>
                <a:latin typeface="Noto Sans TC"/>
                <a:ea typeface="Noto Sans TC"/>
              </a:rPr>
              <a:t>風險、波動、CP、配息</a:t>
            </a:r>
          </a:p>
        </p:txBody>
      </p:sp>
      <p:cxnSp>
        <p:nvCxnSpPr>
          <p:cNvPr id="20" name="line"/>
          <p:cNvCxnSpPr/>
          <p:nvPr/>
        </p:nvCxnSpPr>
        <p:spPr>
          <a:xfrm>
            <a:off x="5971032" y="2057400"/>
            <a:ext cx="301752" cy="0"/>
          </a:xfrm>
          <a:prstGeom prst="line">
            <a:avLst/>
          </a:prstGeom>
          <a:ln w="25400">
            <a:solidFill>
              <a:srgbClr val="FF9664"/>
            </a:solidFill>
          </a:ln>
        </p:spPr>
      </p:cxnSp>
      <p:sp>
        <p:nvSpPr>
          <p:cNvPr id="21" name="shape"/>
          <p:cNvSpPr/>
          <p:nvPr/>
        </p:nvSpPr>
        <p:spPr>
          <a:xfrm>
            <a:off x="6345936" y="1417320"/>
            <a:ext cx="23957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2" name="ellipse"/>
          <p:cNvSpPr/>
          <p:nvPr/>
        </p:nvSpPr>
        <p:spPr>
          <a:xfrm>
            <a:off x="6547104" y="1709928"/>
            <a:ext cx="329184" cy="329184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23" name="text"/>
          <p:cNvSpPr txBox="1"/>
          <p:nvPr/>
        </p:nvSpPr>
        <p:spPr>
          <a:xfrm>
            <a:off x="6647688" y="1792224"/>
            <a:ext cx="109728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800" b="1">
                <a:solidFill>
                  <a:srgbClr val="FFFFFF"/>
                </a:solidFill>
                <a:latin typeface="Noto Sans TC"/>
                <a:ea typeface="Noto Sans TC"/>
              </a:rPr>
              <a:t>3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004304" y="16276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400" b="1">
                <a:solidFill>
                  <a:srgbClr val="262626"/>
                </a:solidFill>
                <a:latin typeface="Noto Sans TC"/>
                <a:ea typeface="Noto Sans TC"/>
              </a:rPr>
              <a:t>看四象限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004304" y="199339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50">
                <a:solidFill>
                  <a:srgbClr val="666666"/>
                </a:solidFill>
                <a:latin typeface="Noto Sans TC"/>
                <a:ea typeface="Noto Sans TC"/>
              </a:rPr>
              <a:t>報酬率 × 波動度</a:t>
            </a:r>
          </a:p>
        </p:txBody>
      </p:sp>
      <p:cxnSp>
        <p:nvCxnSpPr>
          <p:cNvPr id="26" name="line"/>
          <p:cNvCxnSpPr/>
          <p:nvPr/>
        </p:nvCxnSpPr>
        <p:spPr>
          <a:xfrm>
            <a:off x="8787384" y="2057400"/>
            <a:ext cx="301752" cy="0"/>
          </a:xfrm>
          <a:prstGeom prst="line">
            <a:avLst/>
          </a:prstGeom>
          <a:ln w="25400">
            <a:solidFill>
              <a:srgbClr val="FF9664"/>
            </a:solidFill>
          </a:ln>
        </p:spPr>
      </p:cxnSp>
      <p:sp>
        <p:nvSpPr>
          <p:cNvPr id="27" name="shape"/>
          <p:cNvSpPr/>
          <p:nvPr/>
        </p:nvSpPr>
        <p:spPr>
          <a:xfrm>
            <a:off x="9162288" y="1417320"/>
            <a:ext cx="2395728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8" name="ellipse"/>
          <p:cNvSpPr/>
          <p:nvPr/>
        </p:nvSpPr>
        <p:spPr>
          <a:xfrm>
            <a:off x="9363456" y="1709928"/>
            <a:ext cx="329184" cy="329184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29" name="text"/>
          <p:cNvSpPr txBox="1"/>
          <p:nvPr/>
        </p:nvSpPr>
        <p:spPr>
          <a:xfrm>
            <a:off x="9464040" y="1792224"/>
            <a:ext cx="109728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800" b="1">
                <a:solidFill>
                  <a:srgbClr val="FFFFFF"/>
                </a:solidFill>
                <a:latin typeface="Noto Sans TC"/>
                <a:ea typeface="Noto Sans TC"/>
              </a:rPr>
              <a:t>4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820656" y="1627632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400" b="1">
                <a:solidFill>
                  <a:srgbClr val="262626"/>
                </a:solidFill>
                <a:latin typeface="Noto Sans TC"/>
                <a:ea typeface="Noto Sans TC"/>
              </a:rPr>
              <a:t>展開基金卡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9820656" y="1993392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50">
                <a:solidFill>
                  <a:srgbClr val="666666"/>
                </a:solidFill>
                <a:latin typeface="Noto Sans TC"/>
                <a:ea typeface="Noto Sans TC"/>
              </a:rPr>
              <a:t>適合誰、風險、下一步</a:t>
            </a:r>
          </a:p>
        </p:txBody>
      </p:sp>
      <p:sp>
        <p:nvSpPr>
          <p:cNvPr id="32" name="shape"/>
          <p:cNvSpPr/>
          <p:nvPr/>
        </p:nvSpPr>
        <p:spPr>
          <a:xfrm>
            <a:off x="1005840" y="3246120"/>
            <a:ext cx="475488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cxnSp>
        <p:nvCxnSpPr>
          <p:cNvPr id="33" name="line"/>
          <p:cNvCxnSpPr/>
          <p:nvPr/>
        </p:nvCxnSpPr>
        <p:spPr>
          <a:xfrm>
            <a:off x="3383280" y="3429000"/>
            <a:ext cx="0" cy="173736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cxnSp>
        <p:nvCxnSpPr>
          <p:cNvPr id="34" name="line"/>
          <p:cNvCxnSpPr/>
          <p:nvPr/>
        </p:nvCxnSpPr>
        <p:spPr>
          <a:xfrm>
            <a:off x="1234440" y="4297680"/>
            <a:ext cx="4297679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35" name="ellipse"/>
          <p:cNvSpPr/>
          <p:nvPr/>
        </p:nvSpPr>
        <p:spPr>
          <a:xfrm>
            <a:off x="2011680" y="4663440"/>
            <a:ext cx="128016" cy="128016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36" name="ellipse"/>
          <p:cNvSpPr/>
          <p:nvPr/>
        </p:nvSpPr>
        <p:spPr>
          <a:xfrm>
            <a:off x="2834640" y="4526280"/>
            <a:ext cx="128016" cy="128016"/>
          </a:xfrm>
          <a:prstGeom prst="ellipse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37" name="ellipse"/>
          <p:cNvSpPr/>
          <p:nvPr/>
        </p:nvSpPr>
        <p:spPr>
          <a:xfrm>
            <a:off x="4389120" y="3931920"/>
            <a:ext cx="128016" cy="128016"/>
          </a:xfrm>
          <a:prstGeom prst="ellipse">
            <a:avLst/>
          </a:prstGeom>
          <a:solidFill>
            <a:srgbClr val="0EB9B5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38" name="ellipse"/>
          <p:cNvSpPr/>
          <p:nvPr/>
        </p:nvSpPr>
        <p:spPr>
          <a:xfrm>
            <a:off x="4892040" y="3611880"/>
            <a:ext cx="128016" cy="128016"/>
          </a:xfrm>
          <a:prstGeom prst="ellipse">
            <a:avLst/>
          </a:prstGeom>
          <a:solidFill>
            <a:srgbClr val="CCCCCC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39" name="ellipse"/>
          <p:cNvSpPr/>
          <p:nvPr/>
        </p:nvSpPr>
        <p:spPr>
          <a:xfrm>
            <a:off x="4023360" y="4754880"/>
            <a:ext cx="128016" cy="128016"/>
          </a:xfrm>
          <a:prstGeom prst="ellipse">
            <a:avLst/>
          </a:prstGeom>
          <a:solidFill>
            <a:srgbClr val="CCCCCC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40" name="text"/>
          <p:cNvSpPr txBox="1"/>
          <p:nvPr/>
        </p:nvSpPr>
        <p:spPr>
          <a:xfrm>
            <a:off x="1280160" y="352044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00" b="1">
                <a:solidFill>
                  <a:srgbClr val="0EB9B5"/>
                </a:solidFill>
                <a:latin typeface="Noto Sans TC"/>
                <a:ea typeface="Noto Sans TC"/>
              </a:rPr>
              <a:t>高報酬 / 低波動</a:t>
            </a:r>
          </a:p>
        </p:txBody>
      </p:sp>
      <p:sp>
        <p:nvSpPr>
          <p:cNvPr id="41" name="shape"/>
          <p:cNvSpPr/>
          <p:nvPr/>
        </p:nvSpPr>
        <p:spPr>
          <a:xfrm>
            <a:off x="6537960" y="3246120"/>
            <a:ext cx="4206240" cy="2148840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42" name="text"/>
          <p:cNvSpPr txBox="1"/>
          <p:nvPr/>
        </p:nvSpPr>
        <p:spPr>
          <a:xfrm>
            <a:off x="6858000" y="356616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800" b="1">
                <a:solidFill>
                  <a:srgbClr val="262626"/>
                </a:solidFill>
                <a:latin typeface="Noto Sans TC"/>
                <a:ea typeface="Noto Sans TC"/>
              </a:rPr>
              <a:t>右側基金卡回答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903720" y="400507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50">
                <a:solidFill>
                  <a:srgbClr val="666666"/>
                </a:solidFill>
                <a:latin typeface="Noto Sans TC"/>
                <a:ea typeface="Noto Sans TC"/>
              </a:rPr>
              <a:t>• 為什麼符合目前需求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6903720" y="4389120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50">
                <a:solidFill>
                  <a:srgbClr val="666666"/>
                </a:solidFill>
                <a:latin typeface="Noto Sans TC"/>
                <a:ea typeface="Noto Sans TC"/>
              </a:rPr>
              <a:t>• 可能承受的最大風險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6903720" y="4773168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50">
                <a:solidFill>
                  <a:srgbClr val="666666"/>
                </a:solidFill>
                <a:latin typeface="Noto Sans TC"/>
                <a:ea typeface="Noto Sans TC"/>
              </a:rPr>
              <a:t>• 加入比較 / 查看風險說明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LIST EXPERIENCE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新版找基金：把大量基金收斂成可以判斷的候選清單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07</a:t>
            </a:r>
          </a:p>
        </p:txBody>
      </p:sp>
      <p:sp>
        <p:nvSpPr>
          <p:cNvPr id="9" name="shape"/>
          <p:cNvSpPr/>
          <p:nvPr/>
        </p:nvSpPr>
        <p:spPr>
          <a:xfrm>
            <a:off x="658368" y="1298448"/>
            <a:ext cx="1088136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960120" y="160934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>
                <a:solidFill>
                  <a:srgbClr val="999999"/>
                </a:solidFill>
                <a:latin typeface="Noto Sans TC"/>
                <a:ea typeface="Noto Sans TC"/>
              </a:rPr>
              <a:t>搜尋：科技、配息、TISA、債券</a:t>
            </a:r>
          </a:p>
        </p:txBody>
      </p:sp>
      <p:sp>
        <p:nvSpPr>
          <p:cNvPr id="11" name="shape"/>
          <p:cNvSpPr/>
          <p:nvPr/>
        </p:nvSpPr>
        <p:spPr>
          <a:xfrm>
            <a:off x="960120" y="1956816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024128" y="2007108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配息</a:t>
            </a:r>
          </a:p>
        </p:txBody>
      </p:sp>
      <p:sp>
        <p:nvSpPr>
          <p:cNvPr id="13" name="shape"/>
          <p:cNvSpPr/>
          <p:nvPr/>
        </p:nvSpPr>
        <p:spPr>
          <a:xfrm>
            <a:off x="1920240" y="1956816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984248" y="2007108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低波動</a:t>
            </a:r>
          </a:p>
        </p:txBody>
      </p:sp>
      <p:sp>
        <p:nvSpPr>
          <p:cNvPr id="15" name="shape"/>
          <p:cNvSpPr/>
          <p:nvPr/>
        </p:nvSpPr>
        <p:spPr>
          <a:xfrm>
            <a:off x="2880360" y="1956816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2944368" y="2007108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科技</a:t>
            </a:r>
          </a:p>
        </p:txBody>
      </p:sp>
      <p:sp>
        <p:nvSpPr>
          <p:cNvPr id="17" name="shape"/>
          <p:cNvSpPr/>
          <p:nvPr/>
        </p:nvSpPr>
        <p:spPr>
          <a:xfrm>
            <a:off x="3840480" y="1956816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3904488" y="2007108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AI</a:t>
            </a:r>
          </a:p>
        </p:txBody>
      </p:sp>
      <p:sp>
        <p:nvSpPr>
          <p:cNvPr id="19" name="shape"/>
          <p:cNvSpPr/>
          <p:nvPr/>
        </p:nvSpPr>
        <p:spPr>
          <a:xfrm>
            <a:off x="4800600" y="1956816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4864608" y="2007108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債券</a:t>
            </a:r>
          </a:p>
        </p:txBody>
      </p:sp>
      <p:sp>
        <p:nvSpPr>
          <p:cNvPr id="21" name="shape"/>
          <p:cNvSpPr/>
          <p:nvPr/>
        </p:nvSpPr>
        <p:spPr>
          <a:xfrm>
            <a:off x="5760720" y="1956816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5824728" y="2007108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TISA</a:t>
            </a:r>
          </a:p>
        </p:txBody>
      </p:sp>
      <p:sp>
        <p:nvSpPr>
          <p:cNvPr id="23" name="shape"/>
          <p:cNvSpPr/>
          <p:nvPr/>
        </p:nvSpPr>
        <p:spPr>
          <a:xfrm>
            <a:off x="6720840" y="1956816"/>
            <a:ext cx="749808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4" name="text"/>
          <p:cNvSpPr txBox="1"/>
          <p:nvPr/>
        </p:nvSpPr>
        <p:spPr>
          <a:xfrm>
            <a:off x="6784848" y="2007108"/>
            <a:ext cx="621792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退休</a:t>
            </a:r>
          </a:p>
        </p:txBody>
      </p:sp>
      <p:sp>
        <p:nvSpPr>
          <p:cNvPr id="25" name="shape"/>
          <p:cNvSpPr/>
          <p:nvPr/>
        </p:nvSpPr>
        <p:spPr>
          <a:xfrm>
            <a:off x="685800" y="2971800"/>
            <a:ext cx="24231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896112" y="32735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搜尋 / Chips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96112" y="365760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50">
                <a:solidFill>
                  <a:srgbClr val="666666"/>
                </a:solidFill>
                <a:latin typeface="Noto Sans TC"/>
                <a:ea typeface="Noto Sans TC"/>
              </a:rPr>
              <a:t>先把 1000+ 檔基金縮成可看清單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96112" y="45537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效率</a:t>
            </a:r>
          </a:p>
        </p:txBody>
      </p:sp>
      <p:sp>
        <p:nvSpPr>
          <p:cNvPr id="29" name="shape"/>
          <p:cNvSpPr/>
          <p:nvPr/>
        </p:nvSpPr>
        <p:spPr>
          <a:xfrm>
            <a:off x="2468880" y="4572000"/>
            <a:ext cx="123444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30" name="shape"/>
          <p:cNvSpPr/>
          <p:nvPr/>
        </p:nvSpPr>
        <p:spPr>
          <a:xfrm>
            <a:off x="2468880" y="4572000"/>
            <a:ext cx="1012240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3776472" y="451713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82</a:t>
            </a:r>
          </a:p>
        </p:txBody>
      </p:sp>
      <p:sp>
        <p:nvSpPr>
          <p:cNvPr id="32" name="shape"/>
          <p:cNvSpPr/>
          <p:nvPr/>
        </p:nvSpPr>
        <p:spPr>
          <a:xfrm>
            <a:off x="3474720" y="2971800"/>
            <a:ext cx="24231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33" name="text"/>
          <p:cNvSpPr txBox="1"/>
          <p:nvPr/>
        </p:nvSpPr>
        <p:spPr>
          <a:xfrm>
            <a:off x="3685032" y="32735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進階篩選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3685032" y="365760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50">
                <a:solidFill>
                  <a:srgbClr val="666666"/>
                </a:solidFill>
                <a:latin typeface="Noto Sans TC"/>
                <a:ea typeface="Noto Sans TC"/>
              </a:rPr>
              <a:t>基金類型、區域、風險、幣別、配息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3685032" y="45537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效率</a:t>
            </a:r>
          </a:p>
        </p:txBody>
      </p:sp>
      <p:sp>
        <p:nvSpPr>
          <p:cNvPr id="36" name="shape"/>
          <p:cNvSpPr/>
          <p:nvPr/>
        </p:nvSpPr>
        <p:spPr>
          <a:xfrm>
            <a:off x="5257800" y="4572000"/>
            <a:ext cx="123444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37" name="shape"/>
          <p:cNvSpPr/>
          <p:nvPr/>
        </p:nvSpPr>
        <p:spPr>
          <a:xfrm>
            <a:off x="5257800" y="4572000"/>
            <a:ext cx="938174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38" name="text"/>
          <p:cNvSpPr txBox="1"/>
          <p:nvPr/>
        </p:nvSpPr>
        <p:spPr>
          <a:xfrm>
            <a:off x="6565392" y="451713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76</a:t>
            </a:r>
          </a:p>
        </p:txBody>
      </p:sp>
      <p:sp>
        <p:nvSpPr>
          <p:cNvPr id="39" name="shape"/>
          <p:cNvSpPr/>
          <p:nvPr/>
        </p:nvSpPr>
        <p:spPr>
          <a:xfrm>
            <a:off x="6263640" y="2971800"/>
            <a:ext cx="24231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40" name="text"/>
          <p:cNvSpPr txBox="1"/>
          <p:nvPr/>
        </p:nvSpPr>
        <p:spPr>
          <a:xfrm>
            <a:off x="6473952" y="32735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決策卡片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6473952" y="365760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50">
                <a:solidFill>
                  <a:srgbClr val="666666"/>
                </a:solidFill>
                <a:latin typeface="Noto Sans TC"/>
                <a:ea typeface="Noto Sans TC"/>
              </a:rPr>
              <a:t>為什麼適合你 + 主要風險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6473952" y="45537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效率</a:t>
            </a:r>
          </a:p>
        </p:txBody>
      </p:sp>
      <p:sp>
        <p:nvSpPr>
          <p:cNvPr id="43" name="shape"/>
          <p:cNvSpPr/>
          <p:nvPr/>
        </p:nvSpPr>
        <p:spPr>
          <a:xfrm>
            <a:off x="8046720" y="4572000"/>
            <a:ext cx="123444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44" name="shape"/>
          <p:cNvSpPr/>
          <p:nvPr/>
        </p:nvSpPr>
        <p:spPr>
          <a:xfrm>
            <a:off x="8046720" y="4572000"/>
            <a:ext cx="1086307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45" name="text"/>
          <p:cNvSpPr txBox="1"/>
          <p:nvPr/>
        </p:nvSpPr>
        <p:spPr>
          <a:xfrm>
            <a:off x="9354312" y="451713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88</a:t>
            </a:r>
          </a:p>
        </p:txBody>
      </p:sp>
      <p:sp>
        <p:nvSpPr>
          <p:cNvPr id="46" name="shape"/>
          <p:cNvSpPr/>
          <p:nvPr/>
        </p:nvSpPr>
        <p:spPr>
          <a:xfrm>
            <a:off x="9052559" y="2971800"/>
            <a:ext cx="24231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47" name="text"/>
          <p:cNvSpPr txBox="1"/>
          <p:nvPr/>
        </p:nvSpPr>
        <p:spPr>
          <a:xfrm>
            <a:off x="9262872" y="327355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600" b="1">
                <a:solidFill>
                  <a:srgbClr val="262626"/>
                </a:solidFill>
                <a:latin typeface="Noto Sans TC"/>
                <a:ea typeface="Noto Sans TC"/>
              </a:rPr>
              <a:t>比較上限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9262872" y="365760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50">
                <a:solidFill>
                  <a:srgbClr val="666666"/>
                </a:solidFill>
                <a:latin typeface="Noto Sans TC"/>
                <a:ea typeface="Noto Sans TC"/>
              </a:rPr>
              <a:t>最多 3 檔，避免比較焦慮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9262872" y="45537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效率</a:t>
            </a:r>
          </a:p>
        </p:txBody>
      </p:sp>
      <p:sp>
        <p:nvSpPr>
          <p:cNvPr id="50" name="shape"/>
          <p:cNvSpPr/>
          <p:nvPr/>
        </p:nvSpPr>
        <p:spPr>
          <a:xfrm>
            <a:off x="10835640" y="4572000"/>
            <a:ext cx="123444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51" name="shape"/>
          <p:cNvSpPr/>
          <p:nvPr/>
        </p:nvSpPr>
        <p:spPr>
          <a:xfrm>
            <a:off x="10835640" y="4572000"/>
            <a:ext cx="987552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52" name="text"/>
          <p:cNvSpPr txBox="1"/>
          <p:nvPr/>
        </p:nvSpPr>
        <p:spPr>
          <a:xfrm>
            <a:off x="12143232" y="451713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INNOVATION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兩個創新功能：一個降焦慮，一個做深度比較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08</a:t>
            </a:r>
          </a:p>
        </p:txBody>
      </p:sp>
      <p:sp>
        <p:nvSpPr>
          <p:cNvPr id="9" name="shape"/>
          <p:cNvSpPr/>
          <p:nvPr/>
        </p:nvSpPr>
        <p:spPr>
          <a:xfrm>
            <a:off x="685800" y="1417320"/>
            <a:ext cx="507492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0" name="shape"/>
          <p:cNvSpPr/>
          <p:nvPr/>
        </p:nvSpPr>
        <p:spPr>
          <a:xfrm>
            <a:off x="960120" y="1700784"/>
            <a:ext cx="1143000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11" name="text"/>
          <p:cNvSpPr txBox="1"/>
          <p:nvPr/>
        </p:nvSpPr>
        <p:spPr>
          <a:xfrm>
            <a:off x="1024128" y="1751076"/>
            <a:ext cx="1014983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新手 / 半熟手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960120" y="2103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200" b="1">
                <a:solidFill>
                  <a:srgbClr val="262626"/>
                </a:solidFill>
                <a:latin typeface="Noto Sans TC"/>
                <a:ea typeface="Noto Sans TC"/>
              </a:rPr>
              <a:t>基金適配問答精靈</a:t>
            </a:r>
          </a:p>
        </p:txBody>
      </p:sp>
      <p:sp>
        <p:nvSpPr>
          <p:cNvPr id="13" name="shape"/>
          <p:cNvSpPr/>
          <p:nvPr/>
        </p:nvSpPr>
        <p:spPr>
          <a:xfrm>
            <a:off x="960120" y="2697480"/>
            <a:ext cx="2103120" cy="2743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1115568" y="2761488"/>
            <a:ext cx="1645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投資目標</a:t>
            </a:r>
          </a:p>
        </p:txBody>
      </p:sp>
      <p:sp>
        <p:nvSpPr>
          <p:cNvPr id="15" name="shape"/>
          <p:cNvSpPr/>
          <p:nvPr/>
        </p:nvSpPr>
        <p:spPr>
          <a:xfrm>
            <a:off x="960120" y="3108960"/>
            <a:ext cx="2103120" cy="2743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1115568" y="3172968"/>
            <a:ext cx="1645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可接受波動</a:t>
            </a:r>
          </a:p>
        </p:txBody>
      </p:sp>
      <p:sp>
        <p:nvSpPr>
          <p:cNvPr id="17" name="shape"/>
          <p:cNvSpPr/>
          <p:nvPr/>
        </p:nvSpPr>
        <p:spPr>
          <a:xfrm>
            <a:off x="960120" y="3520440"/>
            <a:ext cx="2103120" cy="2743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8" name="text"/>
          <p:cNvSpPr txBox="1"/>
          <p:nvPr/>
        </p:nvSpPr>
        <p:spPr>
          <a:xfrm>
            <a:off x="1115568" y="3584448"/>
            <a:ext cx="1645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投資期間</a:t>
            </a:r>
          </a:p>
        </p:txBody>
      </p:sp>
      <p:sp>
        <p:nvSpPr>
          <p:cNvPr id="19" name="shape"/>
          <p:cNvSpPr/>
          <p:nvPr/>
        </p:nvSpPr>
        <p:spPr>
          <a:xfrm>
            <a:off x="960120" y="3931920"/>
            <a:ext cx="2103120" cy="2743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0" name="text"/>
          <p:cNvSpPr txBox="1"/>
          <p:nvPr/>
        </p:nvSpPr>
        <p:spPr>
          <a:xfrm>
            <a:off x="1115568" y="3995928"/>
            <a:ext cx="1645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基金偏好</a:t>
            </a:r>
          </a:p>
        </p:txBody>
      </p:sp>
      <p:sp>
        <p:nvSpPr>
          <p:cNvPr id="21" name="shape"/>
          <p:cNvSpPr/>
          <p:nvPr/>
        </p:nvSpPr>
        <p:spPr>
          <a:xfrm>
            <a:off x="960120" y="4343400"/>
            <a:ext cx="2103120" cy="274320"/>
          </a:xfrm>
          <a:prstGeom prst="roundRect">
            <a:avLst/>
          </a:prstGeom>
          <a:solidFill>
            <a:srgbClr val="F5F5F5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1115568" y="4407408"/>
            <a:ext cx="1645920" cy="91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是否重視配息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3520440" y="288036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輸出：</a:t>
            </a:r>
          </a:p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使用者風格</a:t>
            </a:r>
          </a:p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基金類型</a:t>
            </a:r>
          </a:p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候選基金</a:t>
            </a:r>
          </a:p>
        </p:txBody>
      </p:sp>
      <p:sp>
        <p:nvSpPr>
          <p:cNvPr id="24" name="shape"/>
          <p:cNvSpPr/>
          <p:nvPr/>
        </p:nvSpPr>
        <p:spPr>
          <a:xfrm>
            <a:off x="6446520" y="1417320"/>
            <a:ext cx="507492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5" name="shape"/>
          <p:cNvSpPr/>
          <p:nvPr/>
        </p:nvSpPr>
        <p:spPr>
          <a:xfrm>
            <a:off x="6720840" y="1700784"/>
            <a:ext cx="1143000" cy="256032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6" name="text"/>
          <p:cNvSpPr txBox="1"/>
          <p:nvPr/>
        </p:nvSpPr>
        <p:spPr>
          <a:xfrm>
            <a:off x="6784848" y="1751076"/>
            <a:ext cx="1014983" cy="155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/>
            <a:r>
              <a:rPr lang="zh-TW" sz="850" b="1">
                <a:solidFill>
                  <a:srgbClr val="FF9664"/>
                </a:solidFill>
                <a:latin typeface="Noto Sans TC"/>
                <a:ea typeface="Noto Sans TC"/>
              </a:rPr>
              <a:t>資深投資者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720840" y="2103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200" b="1">
                <a:solidFill>
                  <a:srgbClr val="262626"/>
                </a:solidFill>
                <a:latin typeface="Noto Sans TC"/>
                <a:ea typeface="Noto Sans TC"/>
              </a:rPr>
              <a:t>Fund Arena 基金比較場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720840" y="272491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報酬</a:t>
            </a:r>
          </a:p>
        </p:txBody>
      </p:sp>
      <p:sp>
        <p:nvSpPr>
          <p:cNvPr id="29" name="shape"/>
          <p:cNvSpPr/>
          <p:nvPr/>
        </p:nvSpPr>
        <p:spPr>
          <a:xfrm>
            <a:off x="8293608" y="2743200"/>
            <a:ext cx="21031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30" name="shape"/>
          <p:cNvSpPr/>
          <p:nvPr/>
        </p:nvSpPr>
        <p:spPr>
          <a:xfrm>
            <a:off x="8293608" y="2743200"/>
            <a:ext cx="1808683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31" name="text"/>
          <p:cNvSpPr txBox="1"/>
          <p:nvPr/>
        </p:nvSpPr>
        <p:spPr>
          <a:xfrm>
            <a:off x="10469880" y="268833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86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720840" y="306324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波動控制</a:t>
            </a:r>
          </a:p>
        </p:txBody>
      </p:sp>
      <p:sp>
        <p:nvSpPr>
          <p:cNvPr id="33" name="shape"/>
          <p:cNvSpPr/>
          <p:nvPr/>
        </p:nvSpPr>
        <p:spPr>
          <a:xfrm>
            <a:off x="8293608" y="3081528"/>
            <a:ext cx="21031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34" name="shape"/>
          <p:cNvSpPr/>
          <p:nvPr/>
        </p:nvSpPr>
        <p:spPr>
          <a:xfrm>
            <a:off x="8293608" y="3081528"/>
            <a:ext cx="1514246" cy="118872"/>
          </a:xfrm>
          <a:prstGeom prst="roundRect">
            <a:avLst/>
          </a:prstGeom>
          <a:solidFill>
            <a:srgbClr val="0EB9B5"/>
          </a:solidFill>
          <a:ln w="9525">
            <a:solidFill>
              <a:srgbClr val="0EB9B5"/>
            </a:solidFill>
          </a:ln>
        </p:spPr>
        <p:txBody>
          <a:bodyPr/>
          <a:lstStyle/>
          <a:p/>
        </p:txBody>
      </p:sp>
      <p:sp>
        <p:nvSpPr>
          <p:cNvPr id="35" name="text"/>
          <p:cNvSpPr txBox="1"/>
          <p:nvPr/>
        </p:nvSpPr>
        <p:spPr>
          <a:xfrm>
            <a:off x="10469880" y="302666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72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6720840" y="3401568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CP值</a:t>
            </a:r>
          </a:p>
        </p:txBody>
      </p:sp>
      <p:sp>
        <p:nvSpPr>
          <p:cNvPr id="37" name="shape"/>
          <p:cNvSpPr/>
          <p:nvPr/>
        </p:nvSpPr>
        <p:spPr>
          <a:xfrm>
            <a:off x="8293608" y="3419856"/>
            <a:ext cx="21031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38" name="shape"/>
          <p:cNvSpPr/>
          <p:nvPr/>
        </p:nvSpPr>
        <p:spPr>
          <a:xfrm>
            <a:off x="8293608" y="3419856"/>
            <a:ext cx="1640433" cy="118872"/>
          </a:xfrm>
          <a:prstGeom prst="roundRect">
            <a:avLst/>
          </a:prstGeom>
          <a:solidFill>
            <a:srgbClr val="2F80ED"/>
          </a:solidFill>
          <a:ln w="9525">
            <a:solidFill>
              <a:srgbClr val="2F80ED"/>
            </a:solidFill>
          </a:ln>
        </p:spPr>
        <p:txBody>
          <a:bodyPr/>
          <a:lstStyle/>
          <a:p/>
        </p:txBody>
      </p:sp>
      <p:sp>
        <p:nvSpPr>
          <p:cNvPr id="39" name="text"/>
          <p:cNvSpPr txBox="1"/>
          <p:nvPr/>
        </p:nvSpPr>
        <p:spPr>
          <a:xfrm>
            <a:off x="10469880" y="336499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78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6720840" y="3739896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費用</a:t>
            </a:r>
          </a:p>
        </p:txBody>
      </p:sp>
      <p:sp>
        <p:nvSpPr>
          <p:cNvPr id="41" name="shape"/>
          <p:cNvSpPr/>
          <p:nvPr/>
        </p:nvSpPr>
        <p:spPr>
          <a:xfrm>
            <a:off x="8293608" y="3758183"/>
            <a:ext cx="21031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42" name="shape"/>
          <p:cNvSpPr/>
          <p:nvPr/>
        </p:nvSpPr>
        <p:spPr>
          <a:xfrm>
            <a:off x="8293608" y="3758183"/>
            <a:ext cx="1324965" cy="118872"/>
          </a:xfrm>
          <a:prstGeom prst="roundRect">
            <a:avLst/>
          </a:prstGeom>
          <a:solidFill>
            <a:srgbClr val="FF9664"/>
          </a:solidFill>
          <a:ln w="9525">
            <a:solidFill>
              <a:srgbClr val="FF9664"/>
            </a:solidFill>
          </a:ln>
        </p:spPr>
        <p:txBody>
          <a:bodyPr/>
          <a:lstStyle/>
          <a:p/>
        </p:txBody>
      </p:sp>
      <p:sp>
        <p:nvSpPr>
          <p:cNvPr id="43" name="text"/>
          <p:cNvSpPr txBox="1"/>
          <p:nvPr/>
        </p:nvSpPr>
        <p:spPr>
          <a:xfrm>
            <a:off x="10469880" y="370332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63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6720840" y="4078224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配息</a:t>
            </a:r>
          </a:p>
        </p:txBody>
      </p:sp>
      <p:sp>
        <p:nvSpPr>
          <p:cNvPr id="45" name="shape"/>
          <p:cNvSpPr/>
          <p:nvPr/>
        </p:nvSpPr>
        <p:spPr>
          <a:xfrm>
            <a:off x="8293608" y="4096512"/>
            <a:ext cx="21031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46" name="shape"/>
          <p:cNvSpPr/>
          <p:nvPr/>
        </p:nvSpPr>
        <p:spPr>
          <a:xfrm>
            <a:off x="8293608" y="4096512"/>
            <a:ext cx="1724558" cy="118872"/>
          </a:xfrm>
          <a:prstGeom prst="roundRect">
            <a:avLst/>
          </a:prstGeom>
          <a:solidFill>
            <a:srgbClr val="0EB9B5"/>
          </a:solidFill>
          <a:ln w="9525">
            <a:solidFill>
              <a:srgbClr val="0EB9B5"/>
            </a:solidFill>
          </a:ln>
        </p:spPr>
        <p:txBody>
          <a:bodyPr/>
          <a:lstStyle/>
          <a:p/>
        </p:txBody>
      </p:sp>
      <p:sp>
        <p:nvSpPr>
          <p:cNvPr id="47" name="text"/>
          <p:cNvSpPr txBox="1"/>
          <p:nvPr/>
        </p:nvSpPr>
        <p:spPr>
          <a:xfrm>
            <a:off x="10469880" y="4041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82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6720840" y="4416552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666666"/>
                </a:solidFill>
                <a:latin typeface="Noto Sans TC"/>
                <a:ea typeface="Noto Sans TC"/>
              </a:rPr>
              <a:t>風險等級</a:t>
            </a:r>
          </a:p>
        </p:txBody>
      </p:sp>
      <p:sp>
        <p:nvSpPr>
          <p:cNvPr id="49" name="shape"/>
          <p:cNvSpPr/>
          <p:nvPr/>
        </p:nvSpPr>
        <p:spPr>
          <a:xfrm>
            <a:off x="8293608" y="4434840"/>
            <a:ext cx="2103120" cy="118872"/>
          </a:xfrm>
          <a:prstGeom prst="roundRect">
            <a:avLst/>
          </a:prstGeom>
          <a:solidFill>
            <a:srgbClr val="EBEBEB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50" name="shape"/>
          <p:cNvSpPr/>
          <p:nvPr/>
        </p:nvSpPr>
        <p:spPr>
          <a:xfrm>
            <a:off x="8293608" y="4434840"/>
            <a:ext cx="1598371" cy="118872"/>
          </a:xfrm>
          <a:prstGeom prst="roundRect">
            <a:avLst/>
          </a:prstGeom>
          <a:solidFill>
            <a:srgbClr val="2F80ED"/>
          </a:solidFill>
          <a:ln w="9525">
            <a:solidFill>
              <a:srgbClr val="2F80ED"/>
            </a:solidFill>
          </a:ln>
        </p:spPr>
        <p:txBody>
          <a:bodyPr/>
          <a:lstStyle/>
          <a:p/>
        </p:txBody>
      </p:sp>
      <p:sp>
        <p:nvSpPr>
          <p:cNvPr id="51" name="text"/>
          <p:cNvSpPr txBox="1"/>
          <p:nvPr/>
        </p:nvSpPr>
        <p:spPr>
          <a:xfrm>
            <a:off x="10469880" y="4379976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000" b="1">
                <a:solidFill>
                  <a:srgbClr val="262626"/>
                </a:solidFill>
                <a:latin typeface="Noto Sans TC"/>
                <a:ea typeface="Noto Sans TC"/>
              </a:rPr>
              <a:t>76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BUSINESS &amp; RISK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商業價值要建立在合規語氣上：先輔助篩選，再承接轉換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09</a:t>
            </a:r>
          </a:p>
        </p:txBody>
      </p:sp>
      <p:sp>
        <p:nvSpPr>
          <p:cNvPr id="9" name="shape"/>
          <p:cNvSpPr/>
          <p:nvPr/>
        </p:nvSpPr>
        <p:spPr>
          <a:xfrm>
            <a:off x="731520" y="1417320"/>
            <a:ext cx="4617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960120" y="1563624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停留時間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331720" y="1563624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00">
                <a:solidFill>
                  <a:srgbClr val="666666"/>
                </a:solidFill>
                <a:latin typeface="Noto Sans TC"/>
                <a:ea typeface="Noto Sans TC"/>
              </a:rPr>
              <a:t>更多情境解釋與比較工具</a:t>
            </a:r>
          </a:p>
        </p:txBody>
      </p:sp>
      <p:sp>
        <p:nvSpPr>
          <p:cNvPr id="12" name="shape"/>
          <p:cNvSpPr/>
          <p:nvPr/>
        </p:nvSpPr>
        <p:spPr>
          <a:xfrm>
            <a:off x="731520" y="2286000"/>
            <a:ext cx="4617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960120" y="2432304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基金點擊率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2331720" y="2432304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00">
                <a:solidFill>
                  <a:srgbClr val="666666"/>
                </a:solidFill>
                <a:latin typeface="Noto Sans TC"/>
                <a:ea typeface="Noto Sans TC"/>
              </a:rPr>
              <a:t>卡片回答適合原因與主要風險</a:t>
            </a:r>
          </a:p>
        </p:txBody>
      </p:sp>
      <p:sp>
        <p:nvSpPr>
          <p:cNvPr id="15" name="shape"/>
          <p:cNvSpPr/>
          <p:nvPr/>
        </p:nvSpPr>
        <p:spPr>
          <a:xfrm>
            <a:off x="731520" y="3154680"/>
            <a:ext cx="4617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960120" y="3300984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比較使用率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2331720" y="3300984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00">
                <a:solidFill>
                  <a:srgbClr val="666666"/>
                </a:solidFill>
                <a:latin typeface="Noto Sans TC"/>
                <a:ea typeface="Noto Sans TC"/>
              </a:rPr>
              <a:t>限制 3 檔，讓決策可完成</a:t>
            </a:r>
          </a:p>
        </p:txBody>
      </p:sp>
      <p:sp>
        <p:nvSpPr>
          <p:cNvPr id="18" name="shape"/>
          <p:cNvSpPr/>
          <p:nvPr/>
        </p:nvSpPr>
        <p:spPr>
          <a:xfrm>
            <a:off x="731520" y="4023359"/>
            <a:ext cx="461772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960120" y="4169663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開戶轉化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331720" y="4169663"/>
            <a:ext cx="2606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200">
                <a:solidFill>
                  <a:srgbClr val="666666"/>
                </a:solidFill>
                <a:latin typeface="Noto Sans TC"/>
                <a:ea typeface="Noto Sans TC"/>
              </a:rPr>
              <a:t>CTA 接在理解與比較之後</a:t>
            </a:r>
          </a:p>
        </p:txBody>
      </p:sp>
      <p:sp>
        <p:nvSpPr>
          <p:cNvPr id="21" name="shape"/>
          <p:cNvSpPr/>
          <p:nvPr/>
        </p:nvSpPr>
        <p:spPr>
          <a:xfrm>
            <a:off x="6217920" y="1417320"/>
            <a:ext cx="4983480" cy="4069080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6537960" y="17373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900" b="1">
                <a:solidFill>
                  <a:srgbClr val="262626"/>
                </a:solidFill>
                <a:latin typeface="Noto Sans TC"/>
                <a:ea typeface="Noto Sans TC"/>
              </a:rPr>
              <a:t>合規語氣規則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583680" y="226771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>
                <a:solidFill>
                  <a:srgbClr val="666666"/>
                </a:solidFill>
                <a:latin typeface="Noto Sans TC"/>
                <a:ea typeface="Noto Sans TC"/>
              </a:rPr>
              <a:t>• 不說：推薦你買、必買、保證收益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583680" y="277063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>
                <a:solidFill>
                  <a:srgbClr val="666666"/>
                </a:solidFill>
                <a:latin typeface="Noto Sans TC"/>
                <a:ea typeface="Noto Sans TC"/>
              </a:rPr>
              <a:t>• 改說：適合觀察、篩選輔助、情境比較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583680" y="327355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>
                <a:solidFill>
                  <a:srgbClr val="666666"/>
                </a:solidFill>
                <a:latin typeface="Noto Sans TC"/>
                <a:ea typeface="Noto Sans TC"/>
              </a:rPr>
              <a:t>• 每頁 footer 補：非投資建議 / mock data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583680" y="377647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>
                <a:solidFill>
                  <a:srgbClr val="666666"/>
                </a:solidFill>
                <a:latin typeface="Noto Sans TC"/>
                <a:ea typeface="Noto Sans TC"/>
              </a:rPr>
              <a:t>• 配息提醒：配息不等於總報酬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777240" y="574243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Demo 對應：全站 footer 與各互動頁。成效指標看問答完成率、比較使用率、詳情點擊率。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5F5F5"/>
          </a:solidFill>
          <a:ln w="9525">
            <a:solidFill>
              <a:srgbClr val="F5F5F5"/>
            </a:solidFill>
          </a:ln>
        </p:spPr>
        <p:txBody>
          <a:bodyPr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566928" y="329184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950" b="1">
                <a:solidFill>
                  <a:srgbClr val="666666"/>
                </a:solidFill>
                <a:latin typeface="Noto Sans TC"/>
                <a:ea typeface="Noto Sans TC"/>
              </a:rPr>
              <a:t>CLOSING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566928" y="60350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2400" b="1">
                <a:solidFill>
                  <a:srgbClr val="262626"/>
                </a:solidFill>
                <a:latin typeface="Noto Sans TC"/>
                <a:ea typeface="Noto Sans TC"/>
              </a:rPr>
              <a:t>最終交付不是一張圖，而是一條可以展示的產品路徑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10149840" y="384048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1000" b="1">
                <a:solidFill>
                  <a:srgbClr val="333333"/>
                </a:solidFill>
                <a:latin typeface="Noto Sans TC"/>
                <a:ea typeface="Noto Sans TC"/>
              </a:rPr>
              <a:t>好好證券 UX</a:t>
            </a:r>
          </a:p>
        </p:txBody>
      </p:sp>
      <p:cxnSp>
        <p:nvCxnSpPr>
          <p:cNvPr id="6" name="line"/>
          <p:cNvCxnSpPr/>
          <p:nvPr/>
        </p:nvCxnSpPr>
        <p:spPr>
          <a:xfrm>
            <a:off x="566928" y="6473952"/>
            <a:ext cx="11064240" cy="0"/>
          </a:xfrm>
          <a:prstGeom prst="line">
            <a:avLst/>
          </a:prstGeom>
          <a:ln w="13970">
            <a:solidFill>
              <a:srgbClr val="E0E0E0"/>
            </a:solidFill>
          </a:ln>
        </p:spPr>
      </p:cxnSp>
      <p:sp>
        <p:nvSpPr>
          <p:cNvPr id="7" name="text"/>
          <p:cNvSpPr txBox="1"/>
          <p:nvPr/>
        </p:nvSpPr>
        <p:spPr>
          <a:xfrm>
            <a:off x="566928" y="6565392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FundSwap UX Demo Portfolio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1064240" y="6565392"/>
            <a:ext cx="54864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/>
            <a:r>
              <a:rPr lang="zh-TW" sz="850" b="1">
                <a:solidFill>
                  <a:srgbClr val="999999"/>
                </a:solidFill>
                <a:latin typeface="Noto Sans TC"/>
                <a:ea typeface="Noto Sans TC"/>
              </a:rPr>
              <a:t>10</a:t>
            </a:r>
          </a:p>
        </p:txBody>
      </p:sp>
      <p:sp>
        <p:nvSpPr>
          <p:cNvPr id="9" name="shape"/>
          <p:cNvSpPr/>
          <p:nvPr/>
        </p:nvSpPr>
        <p:spPr>
          <a:xfrm>
            <a:off x="749808" y="1508760"/>
            <a:ext cx="30632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0" name="text"/>
          <p:cNvSpPr txBox="1"/>
          <p:nvPr/>
        </p:nvSpPr>
        <p:spPr>
          <a:xfrm>
            <a:off x="978407" y="17282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01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99616" y="1728216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頁面優劣分析</a:t>
            </a:r>
          </a:p>
        </p:txBody>
      </p:sp>
      <p:sp>
        <p:nvSpPr>
          <p:cNvPr id="12" name="shape"/>
          <p:cNvSpPr/>
          <p:nvPr/>
        </p:nvSpPr>
        <p:spPr>
          <a:xfrm>
            <a:off x="4361688" y="1508760"/>
            <a:ext cx="30632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3" name="text"/>
          <p:cNvSpPr txBox="1"/>
          <p:nvPr/>
        </p:nvSpPr>
        <p:spPr>
          <a:xfrm>
            <a:off x="4590288" y="17282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03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111496" y="1728216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新版基金照妖鏡</a:t>
            </a:r>
          </a:p>
        </p:txBody>
      </p:sp>
      <p:sp>
        <p:nvSpPr>
          <p:cNvPr id="15" name="shape"/>
          <p:cNvSpPr/>
          <p:nvPr/>
        </p:nvSpPr>
        <p:spPr>
          <a:xfrm>
            <a:off x="7973568" y="1508760"/>
            <a:ext cx="30632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6" name="text"/>
          <p:cNvSpPr txBox="1"/>
          <p:nvPr/>
        </p:nvSpPr>
        <p:spPr>
          <a:xfrm>
            <a:off x="8202168" y="172821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04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723376" y="1728216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新版找基金</a:t>
            </a:r>
          </a:p>
        </p:txBody>
      </p:sp>
      <p:sp>
        <p:nvSpPr>
          <p:cNvPr id="18" name="shape"/>
          <p:cNvSpPr/>
          <p:nvPr/>
        </p:nvSpPr>
        <p:spPr>
          <a:xfrm>
            <a:off x="749808" y="2743200"/>
            <a:ext cx="30632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19" name="text"/>
          <p:cNvSpPr txBox="1"/>
          <p:nvPr/>
        </p:nvSpPr>
        <p:spPr>
          <a:xfrm>
            <a:off x="978407" y="296265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05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499616" y="2962656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問答精靈</a:t>
            </a:r>
          </a:p>
        </p:txBody>
      </p:sp>
      <p:sp>
        <p:nvSpPr>
          <p:cNvPr id="21" name="shape"/>
          <p:cNvSpPr/>
          <p:nvPr/>
        </p:nvSpPr>
        <p:spPr>
          <a:xfrm>
            <a:off x="4361688" y="2743200"/>
            <a:ext cx="30632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2" name="text"/>
          <p:cNvSpPr txBox="1"/>
          <p:nvPr/>
        </p:nvSpPr>
        <p:spPr>
          <a:xfrm>
            <a:off x="4590288" y="296265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06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111496" y="2962656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Fund Arena</a:t>
            </a:r>
          </a:p>
        </p:txBody>
      </p:sp>
      <p:sp>
        <p:nvSpPr>
          <p:cNvPr id="24" name="shape"/>
          <p:cNvSpPr/>
          <p:nvPr/>
        </p:nvSpPr>
        <p:spPr>
          <a:xfrm>
            <a:off x="7973568" y="2743200"/>
            <a:ext cx="306324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BEBEB"/>
            </a:solidFill>
          </a:ln>
        </p:spPr>
        <p:txBody>
          <a:bodyPr/>
          <a:lstStyle/>
          <a:p/>
        </p:txBody>
      </p:sp>
      <p:sp>
        <p:nvSpPr>
          <p:cNvPr id="25" name="text"/>
          <p:cNvSpPr txBox="1"/>
          <p:nvPr/>
        </p:nvSpPr>
        <p:spPr>
          <a:xfrm>
            <a:off x="8202168" y="296265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00" b="1">
                <a:solidFill>
                  <a:srgbClr val="FF661D"/>
                </a:solidFill>
                <a:latin typeface="Noto Sans TC"/>
                <a:ea typeface="Noto Sans TC"/>
              </a:rPr>
              <a:t>07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723376" y="2962656"/>
            <a:ext cx="19659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zh-TW" sz="1350" b="1">
                <a:solidFill>
                  <a:srgbClr val="262626"/>
                </a:solidFill>
                <a:latin typeface="Noto Sans TC"/>
                <a:ea typeface="Noto Sans TC"/>
              </a:rPr>
              <a:t>要求對照檢查</a:t>
            </a:r>
          </a:p>
        </p:txBody>
      </p:sp>
      <p:sp>
        <p:nvSpPr>
          <p:cNvPr id="27" name="shape"/>
          <p:cNvSpPr/>
          <p:nvPr/>
        </p:nvSpPr>
        <p:spPr>
          <a:xfrm>
            <a:off x="749808" y="4572000"/>
            <a:ext cx="10561320" cy="868680"/>
          </a:xfrm>
          <a:prstGeom prst="roundRect">
            <a:avLst/>
          </a:prstGeom>
          <a:solidFill>
            <a:srgbClr val="FFF3EE"/>
          </a:solidFill>
          <a:ln w="9525">
            <a:solidFill>
              <a:srgbClr val="FFD4C0"/>
            </a:solidFill>
          </a:ln>
        </p:spPr>
        <p:txBody>
          <a:bodyPr/>
          <a:lstStyle/>
          <a:p/>
        </p:txBody>
      </p:sp>
      <p:sp>
        <p:nvSpPr>
          <p:cNvPr id="28" name="text"/>
          <p:cNvSpPr txBox="1"/>
          <p:nvPr/>
        </p:nvSpPr>
        <p:spPr>
          <a:xfrm>
            <a:off x="1051560" y="4800600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1700" b="1">
                <a:solidFill>
                  <a:srgbClr val="262626"/>
                </a:solidFill>
                <a:latin typeface="Noto Sans TC"/>
                <a:ea typeface="Noto Sans TC"/>
              </a:rPr>
              <a:t>一句話總結：保留 FundSwap 原有信任感，把基金探索從資料查詢升級為決策輔助。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51560" y="5715000"/>
            <a:ext cx="9875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zh-TW" sz="1200" b="1">
                <a:solidFill>
                  <a:srgbClr val="666666"/>
                </a:solidFill>
                <a:latin typeface="Noto Sans TC"/>
                <a:ea typeface="Noto Sans TC"/>
              </a:rPr>
              <a:t>本 Demo 僅為基金篩選體驗設計展示，非投資建議。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ndSwap UX Theme">
  <a:themeElements>
    <a:clrScheme name="FundSwap">
      <a:dk1>
        <a:srgbClr val="262626"/>
      </a:dk1>
      <a:lt1>
        <a:srgbClr val="FFFFFF"/>
      </a:lt1>
      <a:dk2>
        <a:srgbClr val="333333"/>
      </a:dk2>
      <a:lt2>
        <a:srgbClr val="F5F5F5"/>
      </a:lt2>
      <a:accent1>
        <a:srgbClr val="FF9664"/>
      </a:accent1>
      <a:accent2>
        <a:srgbClr val="0EB9B5"/>
      </a:accent2>
      <a:accent3>
        <a:srgbClr val="2F80ED"/>
      </a:accent3>
      <a:accent4>
        <a:srgbClr val="2BAB52"/>
      </a:accent4>
      <a:accent5>
        <a:srgbClr val="722ED1"/>
      </a:accent5>
      <a:accent6>
        <a:srgbClr val="FA3130"/>
      </a:accent6>
      <a:hlink>
        <a:srgbClr val="FF7E40"/>
      </a:hlink>
      <a:folHlink>
        <a:srgbClr val="FF7E40"/>
      </a:folHlink>
    </a:clrScheme>
    <a:fontScheme name="FundSwap Fonts">
      <a:majorFont>
        <a:latin typeface="Noto Sans TC"/>
        <a:ea typeface="Noto Sans TC"/>
        <a:cs typeface="Noto Sans TC"/>
      </a:majorFont>
      <a:minorFont>
        <a:latin typeface="Noto Sans TC"/>
        <a:ea typeface="Noto Sans TC"/>
        <a:cs typeface="Noto Sans TC"/>
      </a:minorFont>
    </a:fontScheme>
    <a:fmtScheme name="FundSwap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PowerPoint</Application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FundSwap UX Portfolio Presentation</dc:title>
  <dc:creator>Codex</dc:creator>
  <cp:lastModifiedBy>Codex</cp:lastModifiedBy>
</cp:coreProperties>
</file>